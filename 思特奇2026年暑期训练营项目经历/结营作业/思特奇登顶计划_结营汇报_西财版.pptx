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69" r:id="rId5"/>
    <p:sldId id="270" r:id="rId6"/>
    <p:sldId id="272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68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3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1" y="1122363"/>
            <a:ext cx="91435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1" y="3602038"/>
            <a:ext cx="91435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A56-C766-4643-9C49-0B5937DF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1A4B-E62A-4F8E-837E-E9B10A41F2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CA56-C766-4643-9C49-0B5937DF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1A4B-E62A-4F8E-837E-E9B10A41F2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56" y="365125"/>
            <a:ext cx="105150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56" y="1825625"/>
            <a:ext cx="105150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156" y="6356350"/>
            <a:ext cx="2743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4CA56-C766-4643-9C49-0B5937DF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152" y="6356350"/>
            <a:ext cx="2743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1A4B-E62A-4F8E-837E-E9B10A41F2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49.xml"/><Relationship Id="rId36" Type="http://schemas.openxmlformats.org/officeDocument/2006/relationships/tags" Target="../tags/tag48.xml"/><Relationship Id="rId35" Type="http://schemas.openxmlformats.org/officeDocument/2006/relationships/tags" Target="../tags/tag47.xml"/><Relationship Id="rId34" Type="http://schemas.openxmlformats.org/officeDocument/2006/relationships/tags" Target="../tags/tag46.xml"/><Relationship Id="rId33" Type="http://schemas.openxmlformats.org/officeDocument/2006/relationships/tags" Target="../tags/tag45.xml"/><Relationship Id="rId32" Type="http://schemas.openxmlformats.org/officeDocument/2006/relationships/tags" Target="../tags/tag44.xml"/><Relationship Id="rId31" Type="http://schemas.openxmlformats.org/officeDocument/2006/relationships/tags" Target="../tags/tag43.xml"/><Relationship Id="rId30" Type="http://schemas.openxmlformats.org/officeDocument/2006/relationships/tags" Target="../tags/tag42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12.xml"/><Relationship Id="rId23" Type="http://schemas.openxmlformats.org/officeDocument/2006/relationships/tags" Target="../tags/tag111.xml"/><Relationship Id="rId22" Type="http://schemas.openxmlformats.org/officeDocument/2006/relationships/tags" Target="../tags/tag110.xml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0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32.xml"/><Relationship Id="rId2" Type="http://schemas.openxmlformats.org/officeDocument/2006/relationships/tags" Target="../tags/tag114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66.xml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tags" Target="../tags/tag1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474720" y="1828800"/>
            <a:ext cx="5212080" cy="0"/>
          </a:xfrm>
          <a:prstGeom prst="line">
            <a:avLst/>
          </a:prstGeom>
          <a:ln w="19050">
            <a:solidFill>
              <a:srgbClr val="157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74720" y="3246120"/>
            <a:ext cx="5212080" cy="0"/>
          </a:xfrm>
          <a:prstGeom prst="line">
            <a:avLst/>
          </a:prstGeom>
          <a:ln w="19050">
            <a:solidFill>
              <a:srgbClr val="157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0" y="1965960"/>
            <a:ext cx="7589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思特奇2026登顶计划</a:t>
            </a:r>
            <a:endParaRPr altLang="zh-CN"/>
          </a:p>
        </p:txBody>
      </p:sp>
      <p:sp>
        <p:nvSpPr>
          <p:cNvPr id="5" name="TextBox 4"/>
          <p:cNvSpPr txBox="1"/>
          <p:nvPr/>
        </p:nvSpPr>
        <p:spPr>
          <a:xfrm>
            <a:off x="2286000" y="33832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>
                <a:solidFill>
                  <a:srgbClr val="157E9F"/>
                </a:solidFill>
                <a:latin typeface="方正清刻本悦宋简体"/>
              </a:defRPr>
            </a:pP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会用</a:t>
            </a:r>
            <a:r>
              <a:rPr lang="en-US" altLang="zh-CN">
                <a:sym typeface="+mn-ea"/>
              </a:rPr>
              <a:t> AI”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对价值负责</a:t>
            </a:r>
            <a:r>
              <a:rPr lang="en-US" altLang="zh-CN">
                <a:sym typeface="+mn-ea"/>
              </a:rPr>
              <a:t>”</a:t>
            </a:r>
            <a:endParaRPr altLang="zh-CN"/>
          </a:p>
        </p:txBody>
      </p:sp>
      <p:sp>
        <p:nvSpPr>
          <p:cNvPr id="6" name="TextBox 5"/>
          <p:cNvSpPr txBox="1"/>
          <p:nvPr/>
        </p:nvSpPr>
        <p:spPr>
          <a:xfrm>
            <a:off x="2286000" y="4023360"/>
            <a:ext cx="7589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  <a:latin typeface="Arial" panose="020B0604020202020204"/>
              </a:defRPr>
            </a:pPr>
            <a:r>
              <a:rPr altLang="zh-CN"/>
              <a:t>SI-TECH Summit Plan - Final Presentation</a:t>
            </a:r>
            <a:endParaRPr altLang="zh-CN"/>
          </a:p>
        </p:txBody>
      </p:sp>
      <p:sp>
        <p:nvSpPr>
          <p:cNvPr id="7" name="TextBox 6"/>
          <p:cNvSpPr txBox="1"/>
          <p:nvPr/>
        </p:nvSpPr>
        <p:spPr>
          <a:xfrm>
            <a:off x="2286000" y="5318125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2000"/>
              <a:t>汇报人：</a:t>
            </a:r>
            <a:r>
              <a:rPr lang="zh-CN" sz="2000"/>
              <a:t>李昔伦</a:t>
            </a:r>
            <a:r>
              <a:rPr altLang="zh-CN" sz="2000"/>
              <a:t>   |   2026年8月</a:t>
            </a:r>
            <a:endParaRPr altLang="zh-CN" sz="2000"/>
          </a:p>
        </p:txBody>
      </p:sp>
      <p:sp>
        <p:nvSpPr>
          <p:cNvPr id="8" name="Rounded Rectangle 7"/>
          <p:cNvSpPr/>
          <p:nvPr/>
        </p:nvSpPr>
        <p:spPr>
          <a:xfrm>
            <a:off x="11521440" y="137160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_图片 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>
            <p:custDataLst>
              <p:tags r:id="rId1"/>
            </p:custDataLst>
          </p:nvPr>
        </p:nvSpPr>
        <p:spPr>
          <a:xfrm>
            <a:off x="4914852" y="2127016"/>
            <a:ext cx="272220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学习心得与认知转变</a:t>
            </a:r>
            <a:endParaRPr lang="zh-CN" altLang="en-US" sz="2800" b="1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2"/>
            </p:custDataLst>
          </p:nvPr>
        </p:nvSpPr>
        <p:spPr>
          <a:xfrm>
            <a:off x="8596461" y="2339805"/>
            <a:ext cx="2722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跨模块实践洞察</a:t>
            </a:r>
            <a:endParaRPr lang="zh-CN" altLang="en-US" sz="2800" b="1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868330" y="4023283"/>
            <a:ext cx="2722208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  <a:sym typeface="+mn-ea"/>
              </a:rPr>
              <a:t>成长心理与自我效能感</a:t>
            </a:r>
            <a:endParaRPr lang="zh-CN" altLang="en-US" sz="2800" b="1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  <a:p>
            <a:endParaRPr lang="zh-CN" altLang="en-US" sz="2800" b="1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8596929" y="4266488"/>
            <a:ext cx="27222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SMART</a:t>
            </a:r>
            <a:r>
              <a:rPr lang="zh-CN" altLang="en-US" sz="2800" b="1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改进计划</a:t>
            </a:r>
            <a:endParaRPr lang="zh-CN" altLang="en-US" sz="2800" b="1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9"/>
            <a:ext cx="3033328" cy="6857643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651633" y="3268405"/>
            <a:ext cx="156083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方正清刻本悦宋简体" pitchFamily="2" charset="-122"/>
                <a:ea typeface="方正清刻本悦宋简体" pitchFamily="2" charset="-122"/>
              </a:rPr>
              <a:t>目录</a:t>
            </a:r>
            <a:endParaRPr kumimoji="1" lang="zh-CN" altLang="en-US" sz="5400" b="1" dirty="0">
              <a:solidFill>
                <a:schemeClr val="bg1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29" name="文本框 128"/>
          <p:cNvSpPr txBox="1"/>
          <p:nvPr>
            <p:custDataLst>
              <p:tags r:id="rId5"/>
            </p:custDataLst>
          </p:nvPr>
        </p:nvSpPr>
        <p:spPr>
          <a:xfrm>
            <a:off x="3902714" y="2248024"/>
            <a:ext cx="94117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7E9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4000" b="1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>
            <p:custDataLst>
              <p:tags r:id="rId6"/>
            </p:custDataLst>
          </p:nvPr>
        </p:nvSpPr>
        <p:spPr>
          <a:xfrm>
            <a:off x="3902714" y="2179758"/>
            <a:ext cx="941178" cy="941178"/>
          </a:xfrm>
          <a:prstGeom prst="rect">
            <a:avLst/>
          </a:prstGeom>
          <a:noFill/>
          <a:ln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框 130"/>
          <p:cNvSpPr txBox="1"/>
          <p:nvPr>
            <p:custDataLst>
              <p:tags r:id="rId7"/>
            </p:custDataLst>
          </p:nvPr>
        </p:nvSpPr>
        <p:spPr>
          <a:xfrm>
            <a:off x="7632367" y="2214287"/>
            <a:ext cx="94117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7E9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4000" b="1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矩形 131"/>
          <p:cNvSpPr/>
          <p:nvPr>
            <p:custDataLst>
              <p:tags r:id="rId8"/>
            </p:custDataLst>
          </p:nvPr>
        </p:nvSpPr>
        <p:spPr>
          <a:xfrm>
            <a:off x="7632367" y="2146021"/>
            <a:ext cx="941178" cy="941178"/>
          </a:xfrm>
          <a:prstGeom prst="rect">
            <a:avLst/>
          </a:prstGeom>
          <a:noFill/>
          <a:ln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文本框 132"/>
          <p:cNvSpPr txBox="1"/>
          <p:nvPr>
            <p:custDataLst>
              <p:tags r:id="rId9"/>
            </p:custDataLst>
          </p:nvPr>
        </p:nvSpPr>
        <p:spPr>
          <a:xfrm>
            <a:off x="3880628" y="4125111"/>
            <a:ext cx="94117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7E9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4000" b="1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矩形 133"/>
          <p:cNvSpPr/>
          <p:nvPr>
            <p:custDataLst>
              <p:tags r:id="rId10"/>
            </p:custDataLst>
          </p:nvPr>
        </p:nvSpPr>
        <p:spPr>
          <a:xfrm>
            <a:off x="3880628" y="4056845"/>
            <a:ext cx="941178" cy="941178"/>
          </a:xfrm>
          <a:prstGeom prst="rect">
            <a:avLst/>
          </a:prstGeom>
          <a:noFill/>
          <a:ln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/>
          <p:cNvSpPr txBox="1"/>
          <p:nvPr>
            <p:custDataLst>
              <p:tags r:id="rId11"/>
            </p:custDataLst>
          </p:nvPr>
        </p:nvSpPr>
        <p:spPr>
          <a:xfrm>
            <a:off x="7623144" y="4125111"/>
            <a:ext cx="94117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157E9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zh-CN" sz="4000" b="1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矩形 135"/>
          <p:cNvSpPr/>
          <p:nvPr>
            <p:custDataLst>
              <p:tags r:id="rId12"/>
            </p:custDataLst>
          </p:nvPr>
        </p:nvSpPr>
        <p:spPr>
          <a:xfrm>
            <a:off x="7623144" y="4056845"/>
            <a:ext cx="941178" cy="941178"/>
          </a:xfrm>
          <a:prstGeom prst="rect">
            <a:avLst/>
          </a:prstGeom>
          <a:noFill/>
          <a:ln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50" y="900968"/>
            <a:ext cx="1569821" cy="1572309"/>
          </a:xfrm>
          <a:prstGeom prst="flowChartConnector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77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4717498" y="2957174"/>
            <a:ext cx="519743" cy="519743"/>
          </a:xfrm>
          <a:custGeom>
            <a:avLst/>
            <a:gdLst>
              <a:gd name="T0" fmla="*/ 2147483646 w 200"/>
              <a:gd name="T1" fmla="*/ 2147483646 h 200"/>
              <a:gd name="T2" fmla="*/ 2147483646 w 200"/>
              <a:gd name="T3" fmla="*/ 2147483646 h 200"/>
              <a:gd name="T4" fmla="*/ 2147483646 w 200"/>
              <a:gd name="T5" fmla="*/ 2147483646 h 200"/>
              <a:gd name="T6" fmla="*/ 2147483646 w 200"/>
              <a:gd name="T7" fmla="*/ 2147483646 h 200"/>
              <a:gd name="T8" fmla="*/ 2147483646 w 200"/>
              <a:gd name="T9" fmla="*/ 2147483646 h 200"/>
              <a:gd name="T10" fmla="*/ 2147483646 w 200"/>
              <a:gd name="T11" fmla="*/ 2147483646 h 200"/>
              <a:gd name="T12" fmla="*/ 2147483646 w 200"/>
              <a:gd name="T13" fmla="*/ 2147483646 h 200"/>
              <a:gd name="T14" fmla="*/ 2147483646 w 200"/>
              <a:gd name="T15" fmla="*/ 2147483646 h 200"/>
              <a:gd name="T16" fmla="*/ 2147483646 w 200"/>
              <a:gd name="T17" fmla="*/ 2147483646 h 200"/>
              <a:gd name="T18" fmla="*/ 2147483646 w 200"/>
              <a:gd name="T19" fmla="*/ 2147483646 h 200"/>
              <a:gd name="T20" fmla="*/ 2147483646 w 200"/>
              <a:gd name="T21" fmla="*/ 2147483646 h 200"/>
              <a:gd name="T22" fmla="*/ 2147483646 w 200"/>
              <a:gd name="T23" fmla="*/ 2147483646 h 200"/>
              <a:gd name="T24" fmla="*/ 2147483646 w 200"/>
              <a:gd name="T25" fmla="*/ 2147483646 h 200"/>
              <a:gd name="T26" fmla="*/ 2147483646 w 200"/>
              <a:gd name="T27" fmla="*/ 2147483646 h 200"/>
              <a:gd name="T28" fmla="*/ 2147483646 w 200"/>
              <a:gd name="T29" fmla="*/ 2147483646 h 200"/>
              <a:gd name="T30" fmla="*/ 2147483646 w 200"/>
              <a:gd name="T31" fmla="*/ 2147483646 h 200"/>
              <a:gd name="T32" fmla="*/ 2147483646 w 200"/>
              <a:gd name="T33" fmla="*/ 2147483646 h 200"/>
              <a:gd name="T34" fmla="*/ 2147483646 w 200"/>
              <a:gd name="T35" fmla="*/ 2147483646 h 200"/>
              <a:gd name="T36" fmla="*/ 2147483646 w 200"/>
              <a:gd name="T37" fmla="*/ 2147483646 h 200"/>
              <a:gd name="T38" fmla="*/ 2147483646 w 200"/>
              <a:gd name="T39" fmla="*/ 2147483646 h 200"/>
              <a:gd name="T40" fmla="*/ 2147483646 w 200"/>
              <a:gd name="T41" fmla="*/ 2147483646 h 200"/>
              <a:gd name="T42" fmla="*/ 2147483646 w 200"/>
              <a:gd name="T43" fmla="*/ 2147483646 h 200"/>
              <a:gd name="T44" fmla="*/ 2147483646 w 200"/>
              <a:gd name="T45" fmla="*/ 2147483646 h 200"/>
              <a:gd name="T46" fmla="*/ 2147483646 w 200"/>
              <a:gd name="T47" fmla="*/ 2147483646 h 200"/>
              <a:gd name="T48" fmla="*/ 2147483646 w 200"/>
              <a:gd name="T49" fmla="*/ 2147483646 h 200"/>
              <a:gd name="T50" fmla="*/ 2147483646 w 200"/>
              <a:gd name="T51" fmla="*/ 2147483646 h 200"/>
              <a:gd name="T52" fmla="*/ 2147483646 w 200"/>
              <a:gd name="T53" fmla="*/ 2147483646 h 200"/>
              <a:gd name="T54" fmla="*/ 2147483646 w 200"/>
              <a:gd name="T55" fmla="*/ 2147483646 h 200"/>
              <a:gd name="T56" fmla="*/ 2147483646 w 200"/>
              <a:gd name="T57" fmla="*/ 2147483646 h 200"/>
              <a:gd name="T58" fmla="*/ 2147483646 w 200"/>
              <a:gd name="T59" fmla="*/ 2147483646 h 200"/>
              <a:gd name="T60" fmla="*/ 2147483646 w 200"/>
              <a:gd name="T61" fmla="*/ 2147483646 h 200"/>
              <a:gd name="T62" fmla="*/ 2147483646 w 200"/>
              <a:gd name="T63" fmla="*/ 2147483646 h 200"/>
              <a:gd name="T64" fmla="*/ 2147483646 w 200"/>
              <a:gd name="T65" fmla="*/ 2147483646 h 200"/>
              <a:gd name="T66" fmla="*/ 2147483646 w 200"/>
              <a:gd name="T67" fmla="*/ 2147483646 h 200"/>
              <a:gd name="T68" fmla="*/ 2147483646 w 200"/>
              <a:gd name="T69" fmla="*/ 2147483646 h 200"/>
              <a:gd name="T70" fmla="*/ 2147483646 w 200"/>
              <a:gd name="T71" fmla="*/ 0 h 200"/>
              <a:gd name="T72" fmla="*/ 2147483646 w 200"/>
              <a:gd name="T73" fmla="*/ 2147483646 h 200"/>
              <a:gd name="T74" fmla="*/ 2147483646 w 200"/>
              <a:gd name="T75" fmla="*/ 2147483646 h 200"/>
              <a:gd name="T76" fmla="*/ 2147483646 w 200"/>
              <a:gd name="T77" fmla="*/ 2147483646 h 200"/>
              <a:gd name="T78" fmla="*/ 0 w 200"/>
              <a:gd name="T79" fmla="*/ 2147483646 h 200"/>
              <a:gd name="T80" fmla="*/ 2147483646 w 200"/>
              <a:gd name="T81" fmla="*/ 2147483646 h 200"/>
              <a:gd name="T82" fmla="*/ 2147483646 w 200"/>
              <a:gd name="T83" fmla="*/ 2147483646 h 200"/>
              <a:gd name="T84" fmla="*/ 2147483646 w 200"/>
              <a:gd name="T85" fmla="*/ 2147483646 h 200"/>
              <a:gd name="T86" fmla="*/ 2147483646 w 200"/>
              <a:gd name="T87" fmla="*/ 2147483646 h 200"/>
              <a:gd name="T88" fmla="*/ 2147483646 w 200"/>
              <a:gd name="T89" fmla="*/ 2147483646 h 200"/>
              <a:gd name="T90" fmla="*/ 2147483646 w 200"/>
              <a:gd name="T91" fmla="*/ 2147483646 h 200"/>
              <a:gd name="T92" fmla="*/ 2147483646 w 200"/>
              <a:gd name="T93" fmla="*/ 2147483646 h 200"/>
              <a:gd name="T94" fmla="*/ 2147483646 w 200"/>
              <a:gd name="T95" fmla="*/ 2147483646 h 200"/>
              <a:gd name="T96" fmla="*/ 2147483646 w 200"/>
              <a:gd name="T97" fmla="*/ 2147483646 h 200"/>
              <a:gd name="T98" fmla="*/ 2147483646 w 200"/>
              <a:gd name="T99" fmla="*/ 2147483646 h 200"/>
              <a:gd name="T100" fmla="*/ 2147483646 w 200"/>
              <a:gd name="T101" fmla="*/ 2147483646 h 200"/>
              <a:gd name="T102" fmla="*/ 2147483646 w 200"/>
              <a:gd name="T103" fmla="*/ 2147483646 h 200"/>
              <a:gd name="T104" fmla="*/ 2147483646 w 200"/>
              <a:gd name="T105" fmla="*/ 2147483646 h 200"/>
              <a:gd name="T106" fmla="*/ 2147483646 w 200"/>
              <a:gd name="T107" fmla="*/ 2147483646 h 200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00" h="200">
                <a:moveTo>
                  <a:pt x="112" y="8"/>
                </a:moveTo>
                <a:cubicBezTo>
                  <a:pt x="112" y="21"/>
                  <a:pt x="112" y="21"/>
                  <a:pt x="112" y="21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8" y="29"/>
                  <a:pt x="118" y="29"/>
                  <a:pt x="118" y="29"/>
                </a:cubicBezTo>
                <a:cubicBezTo>
                  <a:pt x="125" y="30"/>
                  <a:pt x="132" y="33"/>
                  <a:pt x="138" y="37"/>
                </a:cubicBezTo>
                <a:cubicBezTo>
                  <a:pt x="143" y="40"/>
                  <a:pt x="143" y="40"/>
                  <a:pt x="143" y="40"/>
                </a:cubicBezTo>
                <a:cubicBezTo>
                  <a:pt x="147" y="36"/>
                  <a:pt x="147" y="36"/>
                  <a:pt x="147" y="36"/>
                </a:cubicBezTo>
                <a:cubicBezTo>
                  <a:pt x="157" y="26"/>
                  <a:pt x="157" y="26"/>
                  <a:pt x="157" y="26"/>
                </a:cubicBezTo>
                <a:cubicBezTo>
                  <a:pt x="174" y="43"/>
                  <a:pt x="174" y="43"/>
                  <a:pt x="174" y="43"/>
                </a:cubicBezTo>
                <a:cubicBezTo>
                  <a:pt x="164" y="53"/>
                  <a:pt x="164" y="53"/>
                  <a:pt x="164" y="53"/>
                </a:cubicBezTo>
                <a:cubicBezTo>
                  <a:pt x="160" y="57"/>
                  <a:pt x="160" y="57"/>
                  <a:pt x="160" y="57"/>
                </a:cubicBezTo>
                <a:cubicBezTo>
                  <a:pt x="163" y="62"/>
                  <a:pt x="163" y="62"/>
                  <a:pt x="163" y="62"/>
                </a:cubicBezTo>
                <a:cubicBezTo>
                  <a:pt x="166" y="68"/>
                  <a:pt x="169" y="75"/>
                  <a:pt x="170" y="81"/>
                </a:cubicBezTo>
                <a:cubicBezTo>
                  <a:pt x="172" y="88"/>
                  <a:pt x="172" y="88"/>
                  <a:pt x="172" y="88"/>
                </a:cubicBezTo>
                <a:cubicBezTo>
                  <a:pt x="178" y="88"/>
                  <a:pt x="178" y="88"/>
                  <a:pt x="178" y="88"/>
                </a:cubicBezTo>
                <a:cubicBezTo>
                  <a:pt x="192" y="88"/>
                  <a:pt x="192" y="88"/>
                  <a:pt x="192" y="88"/>
                </a:cubicBezTo>
                <a:cubicBezTo>
                  <a:pt x="192" y="112"/>
                  <a:pt x="192" y="112"/>
                  <a:pt x="192" y="112"/>
                </a:cubicBezTo>
                <a:cubicBezTo>
                  <a:pt x="177" y="112"/>
                  <a:pt x="177" y="112"/>
                  <a:pt x="177" y="112"/>
                </a:cubicBezTo>
                <a:cubicBezTo>
                  <a:pt x="171" y="112"/>
                  <a:pt x="171" y="112"/>
                  <a:pt x="171" y="112"/>
                </a:cubicBezTo>
                <a:cubicBezTo>
                  <a:pt x="170" y="117"/>
                  <a:pt x="170" y="117"/>
                  <a:pt x="170" y="117"/>
                </a:cubicBezTo>
                <a:cubicBezTo>
                  <a:pt x="168" y="124"/>
                  <a:pt x="165" y="130"/>
                  <a:pt x="162" y="135"/>
                </a:cubicBezTo>
                <a:cubicBezTo>
                  <a:pt x="159" y="141"/>
                  <a:pt x="159" y="141"/>
                  <a:pt x="159" y="141"/>
                </a:cubicBezTo>
                <a:cubicBezTo>
                  <a:pt x="163" y="145"/>
                  <a:pt x="163" y="145"/>
                  <a:pt x="163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157" y="173"/>
                  <a:pt x="157" y="173"/>
                  <a:pt x="157" y="173"/>
                </a:cubicBezTo>
                <a:cubicBezTo>
                  <a:pt x="146" y="162"/>
                  <a:pt x="146" y="162"/>
                  <a:pt x="146" y="162"/>
                </a:cubicBezTo>
                <a:cubicBezTo>
                  <a:pt x="142" y="158"/>
                  <a:pt x="142" y="158"/>
                  <a:pt x="142" y="158"/>
                </a:cubicBezTo>
                <a:cubicBezTo>
                  <a:pt x="136" y="161"/>
                  <a:pt x="136" y="161"/>
                  <a:pt x="136" y="161"/>
                </a:cubicBezTo>
                <a:cubicBezTo>
                  <a:pt x="131" y="164"/>
                  <a:pt x="125" y="166"/>
                  <a:pt x="118" y="168"/>
                </a:cubicBezTo>
                <a:cubicBezTo>
                  <a:pt x="112" y="169"/>
                  <a:pt x="112" y="169"/>
                  <a:pt x="112" y="169"/>
                </a:cubicBezTo>
                <a:cubicBezTo>
                  <a:pt x="112" y="176"/>
                  <a:pt x="112" y="176"/>
                  <a:pt x="112" y="176"/>
                </a:cubicBezTo>
                <a:cubicBezTo>
                  <a:pt x="112" y="192"/>
                  <a:pt x="112" y="192"/>
                  <a:pt x="112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76"/>
                  <a:pt x="88" y="176"/>
                  <a:pt x="88" y="176"/>
                </a:cubicBezTo>
                <a:cubicBezTo>
                  <a:pt x="88" y="169"/>
                  <a:pt x="88" y="169"/>
                  <a:pt x="88" y="169"/>
                </a:cubicBezTo>
                <a:cubicBezTo>
                  <a:pt x="82" y="168"/>
                  <a:pt x="82" y="168"/>
                  <a:pt x="82" y="168"/>
                </a:cubicBezTo>
                <a:cubicBezTo>
                  <a:pt x="76" y="166"/>
                  <a:pt x="70" y="164"/>
                  <a:pt x="65" y="161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55" y="162"/>
                  <a:pt x="55" y="162"/>
                  <a:pt x="55" y="162"/>
                </a:cubicBezTo>
                <a:cubicBezTo>
                  <a:pt x="44" y="173"/>
                  <a:pt x="44" y="173"/>
                  <a:pt x="44" y="173"/>
                </a:cubicBezTo>
                <a:cubicBezTo>
                  <a:pt x="27" y="156"/>
                  <a:pt x="27" y="156"/>
                  <a:pt x="27" y="156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42" y="141"/>
                  <a:pt x="42" y="141"/>
                  <a:pt x="42" y="141"/>
                </a:cubicBezTo>
                <a:cubicBezTo>
                  <a:pt x="39" y="135"/>
                  <a:pt x="39" y="135"/>
                  <a:pt x="39" y="135"/>
                </a:cubicBezTo>
                <a:cubicBezTo>
                  <a:pt x="35" y="130"/>
                  <a:pt x="33" y="124"/>
                  <a:pt x="31" y="117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3" y="112"/>
                  <a:pt x="23" y="112"/>
                  <a:pt x="23" y="112"/>
                </a:cubicBezTo>
                <a:cubicBezTo>
                  <a:pt x="8" y="112"/>
                  <a:pt x="8" y="112"/>
                  <a:pt x="8" y="112"/>
                </a:cubicBezTo>
                <a:cubicBezTo>
                  <a:pt x="8" y="88"/>
                  <a:pt x="8" y="88"/>
                  <a:pt x="8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9" y="88"/>
                  <a:pt x="29" y="88"/>
                  <a:pt x="29" y="88"/>
                </a:cubicBezTo>
                <a:cubicBezTo>
                  <a:pt x="30" y="81"/>
                  <a:pt x="30" y="81"/>
                  <a:pt x="30" y="81"/>
                </a:cubicBezTo>
                <a:cubicBezTo>
                  <a:pt x="32" y="75"/>
                  <a:pt x="35" y="68"/>
                  <a:pt x="38" y="62"/>
                </a:cubicBezTo>
                <a:cubicBezTo>
                  <a:pt x="41" y="57"/>
                  <a:pt x="41" y="57"/>
                  <a:pt x="41" y="57"/>
                </a:cubicBezTo>
                <a:cubicBezTo>
                  <a:pt x="37" y="53"/>
                  <a:pt x="37" y="53"/>
                  <a:pt x="37" y="53"/>
                </a:cubicBezTo>
                <a:cubicBezTo>
                  <a:pt x="27" y="43"/>
                  <a:pt x="27" y="43"/>
                  <a:pt x="27" y="43"/>
                </a:cubicBezTo>
                <a:cubicBezTo>
                  <a:pt x="44" y="26"/>
                  <a:pt x="44" y="26"/>
                  <a:pt x="44" y="26"/>
                </a:cubicBezTo>
                <a:cubicBezTo>
                  <a:pt x="53" y="36"/>
                  <a:pt x="53" y="36"/>
                  <a:pt x="53" y="36"/>
                </a:cubicBezTo>
                <a:cubicBezTo>
                  <a:pt x="58" y="40"/>
                  <a:pt x="58" y="40"/>
                  <a:pt x="58" y="40"/>
                </a:cubicBezTo>
                <a:cubicBezTo>
                  <a:pt x="63" y="37"/>
                  <a:pt x="63" y="37"/>
                  <a:pt x="63" y="37"/>
                </a:cubicBezTo>
                <a:cubicBezTo>
                  <a:pt x="69" y="33"/>
                  <a:pt x="76" y="30"/>
                  <a:pt x="82" y="29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21"/>
                  <a:pt x="88" y="21"/>
                  <a:pt x="88" y="21"/>
                </a:cubicBezTo>
                <a:cubicBezTo>
                  <a:pt x="88" y="8"/>
                  <a:pt x="88" y="8"/>
                  <a:pt x="88" y="8"/>
                </a:cubicBezTo>
                <a:cubicBezTo>
                  <a:pt x="112" y="8"/>
                  <a:pt x="112" y="8"/>
                  <a:pt x="112" y="8"/>
                </a:cubicBezTo>
                <a:moveTo>
                  <a:pt x="100" y="136"/>
                </a:moveTo>
                <a:cubicBezTo>
                  <a:pt x="120" y="136"/>
                  <a:pt x="136" y="119"/>
                  <a:pt x="136" y="100"/>
                </a:cubicBezTo>
                <a:cubicBezTo>
                  <a:pt x="136" y="80"/>
                  <a:pt x="120" y="64"/>
                  <a:pt x="100" y="64"/>
                </a:cubicBezTo>
                <a:cubicBezTo>
                  <a:pt x="81" y="64"/>
                  <a:pt x="64" y="80"/>
                  <a:pt x="64" y="100"/>
                </a:cubicBezTo>
                <a:cubicBezTo>
                  <a:pt x="64" y="119"/>
                  <a:pt x="81" y="136"/>
                  <a:pt x="100" y="136"/>
                </a:cubicBezTo>
                <a:moveTo>
                  <a:pt x="120" y="0"/>
                </a:moveTo>
                <a:cubicBezTo>
                  <a:pt x="80" y="0"/>
                  <a:pt x="80" y="0"/>
                  <a:pt x="80" y="0"/>
                </a:cubicBezTo>
                <a:cubicBezTo>
                  <a:pt x="80" y="21"/>
                  <a:pt x="80" y="21"/>
                  <a:pt x="80" y="21"/>
                </a:cubicBezTo>
                <a:cubicBezTo>
                  <a:pt x="73" y="23"/>
                  <a:pt x="66" y="26"/>
                  <a:pt x="59" y="30"/>
                </a:cubicBezTo>
                <a:cubicBezTo>
                  <a:pt x="44" y="15"/>
                  <a:pt x="44" y="15"/>
                  <a:pt x="44" y="15"/>
                </a:cubicBezTo>
                <a:cubicBezTo>
                  <a:pt x="16" y="43"/>
                  <a:pt x="16" y="43"/>
                  <a:pt x="16" y="43"/>
                </a:cubicBezTo>
                <a:cubicBezTo>
                  <a:pt x="31" y="58"/>
                  <a:pt x="31" y="58"/>
                  <a:pt x="31" y="58"/>
                </a:cubicBezTo>
                <a:cubicBezTo>
                  <a:pt x="27" y="65"/>
                  <a:pt x="25" y="72"/>
                  <a:pt x="23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5" y="127"/>
                  <a:pt x="28" y="133"/>
                  <a:pt x="32" y="140"/>
                </a:cubicBezTo>
                <a:cubicBezTo>
                  <a:pt x="16" y="156"/>
                  <a:pt x="16" y="156"/>
                  <a:pt x="16" y="156"/>
                </a:cubicBezTo>
                <a:cubicBezTo>
                  <a:pt x="44" y="184"/>
                  <a:pt x="44" y="184"/>
                  <a:pt x="44" y="184"/>
                </a:cubicBezTo>
                <a:cubicBezTo>
                  <a:pt x="61" y="168"/>
                  <a:pt x="61" y="168"/>
                  <a:pt x="61" y="168"/>
                </a:cubicBezTo>
                <a:cubicBezTo>
                  <a:pt x="67" y="171"/>
                  <a:pt x="73" y="174"/>
                  <a:pt x="80" y="176"/>
                </a:cubicBezTo>
                <a:cubicBezTo>
                  <a:pt x="80" y="200"/>
                  <a:pt x="80" y="200"/>
                  <a:pt x="80" y="200"/>
                </a:cubicBezTo>
                <a:cubicBezTo>
                  <a:pt x="120" y="200"/>
                  <a:pt x="120" y="200"/>
                  <a:pt x="120" y="200"/>
                </a:cubicBezTo>
                <a:cubicBezTo>
                  <a:pt x="120" y="176"/>
                  <a:pt x="120" y="176"/>
                  <a:pt x="120" y="176"/>
                </a:cubicBezTo>
                <a:cubicBezTo>
                  <a:pt x="127" y="174"/>
                  <a:pt x="134" y="171"/>
                  <a:pt x="140" y="168"/>
                </a:cubicBezTo>
                <a:cubicBezTo>
                  <a:pt x="157" y="184"/>
                  <a:pt x="157" y="184"/>
                  <a:pt x="157" y="184"/>
                </a:cubicBezTo>
                <a:cubicBezTo>
                  <a:pt x="185" y="156"/>
                  <a:pt x="185" y="156"/>
                  <a:pt x="185" y="156"/>
                </a:cubicBezTo>
                <a:cubicBezTo>
                  <a:pt x="169" y="140"/>
                  <a:pt x="169" y="140"/>
                  <a:pt x="169" y="140"/>
                </a:cubicBezTo>
                <a:cubicBezTo>
                  <a:pt x="173" y="133"/>
                  <a:pt x="175" y="127"/>
                  <a:pt x="177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6" y="72"/>
                  <a:pt x="174" y="65"/>
                  <a:pt x="170" y="58"/>
                </a:cubicBezTo>
                <a:cubicBezTo>
                  <a:pt x="185" y="43"/>
                  <a:pt x="185" y="43"/>
                  <a:pt x="185" y="43"/>
                </a:cubicBezTo>
                <a:cubicBezTo>
                  <a:pt x="157" y="15"/>
                  <a:pt x="157" y="15"/>
                  <a:pt x="157" y="15"/>
                </a:cubicBezTo>
                <a:cubicBezTo>
                  <a:pt x="142" y="30"/>
                  <a:pt x="142" y="30"/>
                  <a:pt x="142" y="30"/>
                </a:cubicBezTo>
                <a:cubicBezTo>
                  <a:pt x="135" y="26"/>
                  <a:pt x="128" y="23"/>
                  <a:pt x="120" y="21"/>
                </a:cubicBezTo>
                <a:lnTo>
                  <a:pt x="120" y="0"/>
                </a:lnTo>
                <a:close/>
                <a:moveTo>
                  <a:pt x="100" y="128"/>
                </a:moveTo>
                <a:cubicBezTo>
                  <a:pt x="85" y="128"/>
                  <a:pt x="72" y="115"/>
                  <a:pt x="72" y="100"/>
                </a:cubicBezTo>
                <a:cubicBezTo>
                  <a:pt x="72" y="84"/>
                  <a:pt x="85" y="72"/>
                  <a:pt x="100" y="72"/>
                </a:cubicBezTo>
                <a:cubicBezTo>
                  <a:pt x="116" y="72"/>
                  <a:pt x="128" y="84"/>
                  <a:pt x="128" y="100"/>
                </a:cubicBezTo>
                <a:cubicBezTo>
                  <a:pt x="128" y="115"/>
                  <a:pt x="116" y="128"/>
                  <a:pt x="100" y="128"/>
                </a:cubicBezTo>
              </a:path>
            </a:pathLst>
          </a:custGeom>
          <a:solidFill>
            <a:srgbClr val="F3D180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87" name="任意多边形 86"/>
          <p:cNvSpPr/>
          <p:nvPr>
            <p:custDataLst>
              <p:tags r:id="rId2"/>
            </p:custDataLst>
          </p:nvPr>
        </p:nvSpPr>
        <p:spPr>
          <a:xfrm rot="1647890">
            <a:off x="4248150" y="3110865"/>
            <a:ext cx="1858645" cy="1593850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 useBgFill="1">
        <p:nvSpPr>
          <p:cNvPr id="88" name="任意多边形 87"/>
          <p:cNvSpPr/>
          <p:nvPr>
            <p:custDataLst>
              <p:tags r:id="rId3"/>
            </p:custDataLst>
          </p:nvPr>
        </p:nvSpPr>
        <p:spPr>
          <a:xfrm rot="5410385">
            <a:off x="4633390" y="2083744"/>
            <a:ext cx="1962518" cy="1591580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 useBgFill="1">
        <p:nvSpPr>
          <p:cNvPr id="89" name="任意多边形 88"/>
          <p:cNvSpPr/>
          <p:nvPr>
            <p:custDataLst>
              <p:tags r:id="rId4"/>
            </p:custDataLst>
          </p:nvPr>
        </p:nvSpPr>
        <p:spPr>
          <a:xfrm rot="8980181">
            <a:off x="5690130" y="2014733"/>
            <a:ext cx="1962518" cy="1593738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 useBgFill="1">
        <p:nvSpPr>
          <p:cNvPr id="90" name="任意多边形 89"/>
          <p:cNvSpPr/>
          <p:nvPr>
            <p:custDataLst>
              <p:tags r:id="rId5"/>
            </p:custDataLst>
          </p:nvPr>
        </p:nvSpPr>
        <p:spPr>
          <a:xfrm rot="12742676">
            <a:off x="6281042" y="2957174"/>
            <a:ext cx="1962518" cy="1593736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 useBgFill="1">
        <p:nvSpPr>
          <p:cNvPr id="91" name="任意多边形 90"/>
          <p:cNvSpPr/>
          <p:nvPr>
            <p:custDataLst>
              <p:tags r:id="rId6"/>
            </p:custDataLst>
          </p:nvPr>
        </p:nvSpPr>
        <p:spPr>
          <a:xfrm rot="15671084">
            <a:off x="5921966" y="3775609"/>
            <a:ext cx="1962518" cy="1593736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 useBgFill="1">
        <p:nvSpPr>
          <p:cNvPr id="92" name="任意多边形 91"/>
          <p:cNvSpPr/>
          <p:nvPr>
            <p:custDataLst>
              <p:tags r:id="rId7"/>
            </p:custDataLst>
          </p:nvPr>
        </p:nvSpPr>
        <p:spPr>
          <a:xfrm rot="19433579">
            <a:off x="4827485" y="3979407"/>
            <a:ext cx="1962518" cy="1593736"/>
          </a:xfrm>
          <a:custGeom>
            <a:avLst/>
            <a:gdLst>
              <a:gd name="connsiteX0" fmla="*/ 823693 w 1440187"/>
              <a:gd name="connsiteY0" fmla="*/ 1161944 h 1169530"/>
              <a:gd name="connsiteX1" fmla="*/ 7586 w 1440187"/>
              <a:gd name="connsiteY1" fmla="*/ 553037 h 1169530"/>
              <a:gd name="connsiteX2" fmla="*/ 143018 w 1440187"/>
              <a:gd name="connsiteY2" fmla="*/ 18874 h 1169530"/>
              <a:gd name="connsiteX3" fmla="*/ 160132 w 1440187"/>
              <a:gd name="connsiteY3" fmla="*/ 0 h 1169530"/>
              <a:gd name="connsiteX4" fmla="*/ 220016 w 1440187"/>
              <a:gd name="connsiteY4" fmla="*/ 110327 h 1169530"/>
              <a:gd name="connsiteX5" fmla="*/ 817051 w 1440187"/>
              <a:gd name="connsiteY5" fmla="*/ 427767 h 1169530"/>
              <a:gd name="connsiteX6" fmla="*/ 1326167 w 1440187"/>
              <a:gd name="connsiteY6" fmla="*/ 216885 h 1169530"/>
              <a:gd name="connsiteX7" fmla="*/ 1374986 w 1440187"/>
              <a:gd name="connsiteY7" fmla="*/ 157715 h 1169530"/>
              <a:gd name="connsiteX8" fmla="*/ 1397246 w 1440187"/>
              <a:gd name="connsiteY8" fmla="*/ 204346 h 1169530"/>
              <a:gd name="connsiteX9" fmla="*/ 1432601 w 1440187"/>
              <a:gd name="connsiteY9" fmla="*/ 345836 h 1169530"/>
              <a:gd name="connsiteX10" fmla="*/ 823693 w 1440187"/>
              <a:gd name="connsiteY10" fmla="*/ 1161944 h 1169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0187" h="1169530">
                <a:moveTo>
                  <a:pt x="823693" y="1161944"/>
                </a:moveTo>
                <a:cubicBezTo>
                  <a:pt x="430186" y="1219161"/>
                  <a:pt x="64802" y="946544"/>
                  <a:pt x="7586" y="553037"/>
                </a:cubicBezTo>
                <a:cubicBezTo>
                  <a:pt x="-21023" y="356283"/>
                  <a:pt x="32827" y="166560"/>
                  <a:pt x="143018" y="18874"/>
                </a:cubicBezTo>
                <a:lnTo>
                  <a:pt x="160132" y="0"/>
                </a:lnTo>
                <a:lnTo>
                  <a:pt x="220016" y="110327"/>
                </a:lnTo>
                <a:cubicBezTo>
                  <a:pt x="349405" y="301848"/>
                  <a:pt x="568523" y="427768"/>
                  <a:pt x="817051" y="427767"/>
                </a:cubicBezTo>
                <a:cubicBezTo>
                  <a:pt x="1015874" y="427767"/>
                  <a:pt x="1195874" y="347179"/>
                  <a:pt x="1326167" y="216885"/>
                </a:cubicBezTo>
                <a:lnTo>
                  <a:pt x="1374986" y="157715"/>
                </a:lnTo>
                <a:lnTo>
                  <a:pt x="1397246" y="204346"/>
                </a:lnTo>
                <a:cubicBezTo>
                  <a:pt x="1413481" y="249348"/>
                  <a:pt x="1425449" y="296648"/>
                  <a:pt x="1432601" y="345836"/>
                </a:cubicBezTo>
                <a:cubicBezTo>
                  <a:pt x="1489818" y="739343"/>
                  <a:pt x="1217201" y="1104727"/>
                  <a:pt x="823693" y="1161944"/>
                </a:cubicBezTo>
                <a:close/>
              </a:path>
            </a:pathLst>
          </a:custGeom>
          <a:ln w="25400">
            <a:solidFill>
              <a:srgbClr val="157E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3" name="Freeform 16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6509643" y="2314503"/>
            <a:ext cx="552093" cy="552093"/>
          </a:xfrm>
          <a:custGeom>
            <a:avLst/>
            <a:gdLst>
              <a:gd name="T0" fmla="*/ 2147483646 w 200"/>
              <a:gd name="T1" fmla="*/ 0 h 200"/>
              <a:gd name="T2" fmla="*/ 2147483646 w 200"/>
              <a:gd name="T3" fmla="*/ 0 h 200"/>
              <a:gd name="T4" fmla="*/ 2147483646 w 200"/>
              <a:gd name="T5" fmla="*/ 2147483646 h 200"/>
              <a:gd name="T6" fmla="*/ 2147483646 w 200"/>
              <a:gd name="T7" fmla="*/ 2147483646 h 200"/>
              <a:gd name="T8" fmla="*/ 2147483646 w 200"/>
              <a:gd name="T9" fmla="*/ 2147483646 h 200"/>
              <a:gd name="T10" fmla="*/ 2147483646 w 200"/>
              <a:gd name="T11" fmla="*/ 2147483646 h 200"/>
              <a:gd name="T12" fmla="*/ 2147483646 w 200"/>
              <a:gd name="T13" fmla="*/ 2147483646 h 200"/>
              <a:gd name="T14" fmla="*/ 2147483646 w 200"/>
              <a:gd name="T15" fmla="*/ 2147483646 h 200"/>
              <a:gd name="T16" fmla="*/ 2147483646 w 200"/>
              <a:gd name="T17" fmla="*/ 2147483646 h 200"/>
              <a:gd name="T18" fmla="*/ 2147483646 w 200"/>
              <a:gd name="T19" fmla="*/ 2147483646 h 200"/>
              <a:gd name="T20" fmla="*/ 2147483646 w 200"/>
              <a:gd name="T21" fmla="*/ 2147483646 h 200"/>
              <a:gd name="T22" fmla="*/ 2147483646 w 200"/>
              <a:gd name="T23" fmla="*/ 2147483646 h 200"/>
              <a:gd name="T24" fmla="*/ 2147483646 w 200"/>
              <a:gd name="T25" fmla="*/ 2147483646 h 200"/>
              <a:gd name="T26" fmla="*/ 2147483646 w 200"/>
              <a:gd name="T27" fmla="*/ 2147483646 h 200"/>
              <a:gd name="T28" fmla="*/ 2147483646 w 200"/>
              <a:gd name="T29" fmla="*/ 2147483646 h 200"/>
              <a:gd name="T30" fmla="*/ 2147483646 w 200"/>
              <a:gd name="T31" fmla="*/ 2147483646 h 200"/>
              <a:gd name="T32" fmla="*/ 2147483646 w 200"/>
              <a:gd name="T33" fmla="*/ 2147483646 h 200"/>
              <a:gd name="T34" fmla="*/ 2147483646 w 200"/>
              <a:gd name="T35" fmla="*/ 2147483646 h 200"/>
              <a:gd name="T36" fmla="*/ 2147483646 w 200"/>
              <a:gd name="T37" fmla="*/ 2147483646 h 200"/>
              <a:gd name="T38" fmla="*/ 2147483646 w 200"/>
              <a:gd name="T39" fmla="*/ 2147483646 h 200"/>
              <a:gd name="T40" fmla="*/ 2147483646 w 200"/>
              <a:gd name="T41" fmla="*/ 2147483646 h 200"/>
              <a:gd name="T42" fmla="*/ 2147483646 w 200"/>
              <a:gd name="T43" fmla="*/ 2147483646 h 200"/>
              <a:gd name="T44" fmla="*/ 2147483646 w 200"/>
              <a:gd name="T45" fmla="*/ 2147483646 h 200"/>
              <a:gd name="T46" fmla="*/ 2147483646 w 200"/>
              <a:gd name="T47" fmla="*/ 2147483646 h 200"/>
              <a:gd name="T48" fmla="*/ 2147483646 w 200"/>
              <a:gd name="T49" fmla="*/ 2147483646 h 200"/>
              <a:gd name="T50" fmla="*/ 2147483646 w 200"/>
              <a:gd name="T51" fmla="*/ 2147483646 h 200"/>
              <a:gd name="T52" fmla="*/ 2147483646 w 200"/>
              <a:gd name="T53" fmla="*/ 2147483646 h 200"/>
              <a:gd name="T54" fmla="*/ 2147483646 w 200"/>
              <a:gd name="T55" fmla="*/ 2147483646 h 200"/>
              <a:gd name="T56" fmla="*/ 2147483646 w 200"/>
              <a:gd name="T57" fmla="*/ 2147483646 h 200"/>
              <a:gd name="T58" fmla="*/ 2147483646 w 200"/>
              <a:gd name="T59" fmla="*/ 2147483646 h 200"/>
              <a:gd name="T60" fmla="*/ 2147483646 w 200"/>
              <a:gd name="T61" fmla="*/ 2147483646 h 200"/>
              <a:gd name="T62" fmla="*/ 2147483646 w 200"/>
              <a:gd name="T63" fmla="*/ 2147483646 h 200"/>
              <a:gd name="T64" fmla="*/ 2147483646 w 200"/>
              <a:gd name="T65" fmla="*/ 2147483646 h 200"/>
              <a:gd name="T66" fmla="*/ 2147483646 w 200"/>
              <a:gd name="T67" fmla="*/ 2147483646 h 200"/>
              <a:gd name="T68" fmla="*/ 2147483646 w 200"/>
              <a:gd name="T69" fmla="*/ 2147483646 h 200"/>
              <a:gd name="T70" fmla="*/ 2147483646 w 200"/>
              <a:gd name="T71" fmla="*/ 2147483646 h 200"/>
              <a:gd name="T72" fmla="*/ 2147483646 w 200"/>
              <a:gd name="T73" fmla="*/ 2147483646 h 200"/>
              <a:gd name="T74" fmla="*/ 2147483646 w 200"/>
              <a:gd name="T75" fmla="*/ 2147483646 h 200"/>
              <a:gd name="T76" fmla="*/ 2147483646 w 200"/>
              <a:gd name="T77" fmla="*/ 2147483646 h 200"/>
              <a:gd name="T78" fmla="*/ 2147483646 w 200"/>
              <a:gd name="T79" fmla="*/ 2147483646 h 200"/>
              <a:gd name="T80" fmla="*/ 2147483646 w 200"/>
              <a:gd name="T81" fmla="*/ 2147483646 h 20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200" h="200">
                <a:moveTo>
                  <a:pt x="100" y="0"/>
                </a:move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45" y="0"/>
                  <a:pt x="0" y="44"/>
                  <a:pt x="0" y="100"/>
                </a:cubicBezTo>
                <a:cubicBezTo>
                  <a:pt x="0" y="155"/>
                  <a:pt x="45" y="199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56" y="200"/>
                  <a:pt x="200" y="155"/>
                  <a:pt x="200" y="100"/>
                </a:cubicBezTo>
                <a:cubicBezTo>
                  <a:pt x="200" y="44"/>
                  <a:pt x="156" y="0"/>
                  <a:pt x="100" y="0"/>
                </a:cubicBezTo>
                <a:close/>
                <a:moveTo>
                  <a:pt x="104" y="59"/>
                </a:moveTo>
                <a:cubicBezTo>
                  <a:pt x="115" y="59"/>
                  <a:pt x="125" y="58"/>
                  <a:pt x="135" y="55"/>
                </a:cubicBezTo>
                <a:cubicBezTo>
                  <a:pt x="138" y="67"/>
                  <a:pt x="140" y="81"/>
                  <a:pt x="140" y="96"/>
                </a:cubicBezTo>
                <a:cubicBezTo>
                  <a:pt x="104" y="96"/>
                  <a:pt x="104" y="96"/>
                  <a:pt x="104" y="96"/>
                </a:cubicBezTo>
                <a:lnTo>
                  <a:pt x="104" y="59"/>
                </a:lnTo>
                <a:close/>
                <a:moveTo>
                  <a:pt x="104" y="51"/>
                </a:moveTo>
                <a:cubicBezTo>
                  <a:pt x="104" y="8"/>
                  <a:pt x="104" y="8"/>
                  <a:pt x="104" y="8"/>
                </a:cubicBezTo>
                <a:cubicBezTo>
                  <a:pt x="115" y="11"/>
                  <a:pt x="126" y="26"/>
                  <a:pt x="133" y="48"/>
                </a:cubicBezTo>
                <a:cubicBezTo>
                  <a:pt x="124" y="50"/>
                  <a:pt x="114" y="51"/>
                  <a:pt x="104" y="51"/>
                </a:cubicBezTo>
                <a:close/>
                <a:moveTo>
                  <a:pt x="96" y="8"/>
                </a:moveTo>
                <a:cubicBezTo>
                  <a:pt x="96" y="51"/>
                  <a:pt x="96" y="51"/>
                  <a:pt x="96" y="51"/>
                </a:cubicBezTo>
                <a:cubicBezTo>
                  <a:pt x="87" y="51"/>
                  <a:pt x="77" y="50"/>
                  <a:pt x="68" y="48"/>
                </a:cubicBezTo>
                <a:cubicBezTo>
                  <a:pt x="75" y="25"/>
                  <a:pt x="86" y="11"/>
                  <a:pt x="96" y="8"/>
                </a:cubicBezTo>
                <a:close/>
                <a:moveTo>
                  <a:pt x="96" y="59"/>
                </a:moveTo>
                <a:cubicBezTo>
                  <a:pt x="96" y="96"/>
                  <a:pt x="96" y="96"/>
                  <a:pt x="96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60" y="81"/>
                  <a:pt x="62" y="67"/>
                  <a:pt x="65" y="55"/>
                </a:cubicBezTo>
                <a:cubicBezTo>
                  <a:pt x="75" y="58"/>
                  <a:pt x="86" y="59"/>
                  <a:pt x="96" y="59"/>
                </a:cubicBezTo>
                <a:close/>
                <a:moveTo>
                  <a:pt x="52" y="96"/>
                </a:moveTo>
                <a:cubicBezTo>
                  <a:pt x="9" y="96"/>
                  <a:pt x="9" y="96"/>
                  <a:pt x="9" y="96"/>
                </a:cubicBezTo>
                <a:cubicBezTo>
                  <a:pt x="9" y="75"/>
                  <a:pt x="17" y="56"/>
                  <a:pt x="29" y="41"/>
                </a:cubicBezTo>
                <a:cubicBezTo>
                  <a:pt x="38" y="46"/>
                  <a:pt x="48" y="50"/>
                  <a:pt x="58" y="53"/>
                </a:cubicBezTo>
                <a:cubicBezTo>
                  <a:pt x="54" y="66"/>
                  <a:pt x="52" y="80"/>
                  <a:pt x="52" y="96"/>
                </a:cubicBezTo>
                <a:close/>
                <a:moveTo>
                  <a:pt x="52" y="104"/>
                </a:moveTo>
                <a:cubicBezTo>
                  <a:pt x="52" y="119"/>
                  <a:pt x="54" y="133"/>
                  <a:pt x="58" y="146"/>
                </a:cubicBezTo>
                <a:cubicBezTo>
                  <a:pt x="48" y="149"/>
                  <a:pt x="38" y="153"/>
                  <a:pt x="29" y="158"/>
                </a:cubicBezTo>
                <a:cubicBezTo>
                  <a:pt x="17" y="143"/>
                  <a:pt x="9" y="124"/>
                  <a:pt x="9" y="104"/>
                </a:cubicBezTo>
                <a:lnTo>
                  <a:pt x="52" y="104"/>
                </a:lnTo>
                <a:close/>
                <a:moveTo>
                  <a:pt x="60" y="104"/>
                </a:moveTo>
                <a:cubicBezTo>
                  <a:pt x="96" y="104"/>
                  <a:pt x="96" y="104"/>
                  <a:pt x="96" y="104"/>
                </a:cubicBezTo>
                <a:cubicBezTo>
                  <a:pt x="96" y="140"/>
                  <a:pt x="96" y="140"/>
                  <a:pt x="96" y="140"/>
                </a:cubicBezTo>
                <a:cubicBezTo>
                  <a:pt x="86" y="140"/>
                  <a:pt x="75" y="141"/>
                  <a:pt x="65" y="144"/>
                </a:cubicBezTo>
                <a:cubicBezTo>
                  <a:pt x="62" y="132"/>
                  <a:pt x="60" y="119"/>
                  <a:pt x="60" y="104"/>
                </a:cubicBezTo>
                <a:close/>
                <a:moveTo>
                  <a:pt x="96" y="148"/>
                </a:moveTo>
                <a:cubicBezTo>
                  <a:pt x="96" y="191"/>
                  <a:pt x="96" y="191"/>
                  <a:pt x="96" y="191"/>
                </a:cubicBezTo>
                <a:cubicBezTo>
                  <a:pt x="86" y="188"/>
                  <a:pt x="75" y="174"/>
                  <a:pt x="68" y="152"/>
                </a:cubicBezTo>
                <a:cubicBezTo>
                  <a:pt x="77" y="149"/>
                  <a:pt x="86" y="148"/>
                  <a:pt x="96" y="148"/>
                </a:cubicBezTo>
                <a:close/>
                <a:moveTo>
                  <a:pt x="104" y="191"/>
                </a:moveTo>
                <a:cubicBezTo>
                  <a:pt x="104" y="148"/>
                  <a:pt x="104" y="148"/>
                  <a:pt x="104" y="148"/>
                </a:cubicBezTo>
                <a:cubicBezTo>
                  <a:pt x="114" y="148"/>
                  <a:pt x="124" y="149"/>
                  <a:pt x="133" y="152"/>
                </a:cubicBezTo>
                <a:cubicBezTo>
                  <a:pt x="126" y="174"/>
                  <a:pt x="115" y="188"/>
                  <a:pt x="104" y="191"/>
                </a:cubicBezTo>
                <a:close/>
                <a:moveTo>
                  <a:pt x="104" y="140"/>
                </a:moveTo>
                <a:cubicBezTo>
                  <a:pt x="104" y="104"/>
                  <a:pt x="104" y="104"/>
                  <a:pt x="104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18"/>
                  <a:pt x="138" y="132"/>
                  <a:pt x="135" y="144"/>
                </a:cubicBezTo>
                <a:cubicBezTo>
                  <a:pt x="125" y="141"/>
                  <a:pt x="115" y="140"/>
                  <a:pt x="104" y="140"/>
                </a:cubicBezTo>
                <a:close/>
                <a:moveTo>
                  <a:pt x="148" y="104"/>
                </a:moveTo>
                <a:cubicBezTo>
                  <a:pt x="192" y="104"/>
                  <a:pt x="192" y="104"/>
                  <a:pt x="192" y="104"/>
                </a:cubicBezTo>
                <a:cubicBezTo>
                  <a:pt x="191" y="124"/>
                  <a:pt x="184" y="143"/>
                  <a:pt x="172" y="158"/>
                </a:cubicBezTo>
                <a:cubicBezTo>
                  <a:pt x="163" y="153"/>
                  <a:pt x="153" y="149"/>
                  <a:pt x="143" y="146"/>
                </a:cubicBezTo>
                <a:cubicBezTo>
                  <a:pt x="146" y="133"/>
                  <a:pt x="148" y="119"/>
                  <a:pt x="148" y="104"/>
                </a:cubicBezTo>
                <a:close/>
                <a:moveTo>
                  <a:pt x="148" y="96"/>
                </a:moveTo>
                <a:cubicBezTo>
                  <a:pt x="148" y="80"/>
                  <a:pt x="146" y="66"/>
                  <a:pt x="143" y="53"/>
                </a:cubicBezTo>
                <a:cubicBezTo>
                  <a:pt x="153" y="50"/>
                  <a:pt x="163" y="46"/>
                  <a:pt x="172" y="41"/>
                </a:cubicBezTo>
                <a:cubicBezTo>
                  <a:pt x="184" y="56"/>
                  <a:pt x="191" y="75"/>
                  <a:pt x="192" y="96"/>
                </a:cubicBezTo>
                <a:lnTo>
                  <a:pt x="148" y="96"/>
                </a:lnTo>
                <a:close/>
                <a:moveTo>
                  <a:pt x="166" y="35"/>
                </a:moveTo>
                <a:cubicBezTo>
                  <a:pt x="158" y="39"/>
                  <a:pt x="150" y="43"/>
                  <a:pt x="141" y="46"/>
                </a:cubicBezTo>
                <a:cubicBezTo>
                  <a:pt x="136" y="30"/>
                  <a:pt x="130" y="18"/>
                  <a:pt x="122" y="10"/>
                </a:cubicBezTo>
                <a:cubicBezTo>
                  <a:pt x="139" y="14"/>
                  <a:pt x="154" y="23"/>
                  <a:pt x="166" y="35"/>
                </a:cubicBezTo>
                <a:close/>
                <a:moveTo>
                  <a:pt x="79" y="10"/>
                </a:moveTo>
                <a:cubicBezTo>
                  <a:pt x="71" y="18"/>
                  <a:pt x="64" y="31"/>
                  <a:pt x="60" y="45"/>
                </a:cubicBezTo>
                <a:cubicBezTo>
                  <a:pt x="51" y="43"/>
                  <a:pt x="43" y="39"/>
                  <a:pt x="35" y="35"/>
                </a:cubicBezTo>
                <a:cubicBezTo>
                  <a:pt x="47" y="23"/>
                  <a:pt x="62" y="14"/>
                  <a:pt x="79" y="10"/>
                </a:cubicBezTo>
                <a:close/>
                <a:moveTo>
                  <a:pt x="35" y="164"/>
                </a:moveTo>
                <a:cubicBezTo>
                  <a:pt x="43" y="160"/>
                  <a:pt x="51" y="156"/>
                  <a:pt x="60" y="154"/>
                </a:cubicBezTo>
                <a:cubicBezTo>
                  <a:pt x="64" y="169"/>
                  <a:pt x="71" y="181"/>
                  <a:pt x="79" y="189"/>
                </a:cubicBezTo>
                <a:cubicBezTo>
                  <a:pt x="62" y="185"/>
                  <a:pt x="47" y="176"/>
                  <a:pt x="35" y="164"/>
                </a:cubicBezTo>
                <a:close/>
                <a:moveTo>
                  <a:pt x="122" y="189"/>
                </a:moveTo>
                <a:cubicBezTo>
                  <a:pt x="130" y="181"/>
                  <a:pt x="136" y="169"/>
                  <a:pt x="141" y="154"/>
                </a:cubicBezTo>
                <a:cubicBezTo>
                  <a:pt x="150" y="156"/>
                  <a:pt x="158" y="160"/>
                  <a:pt x="166" y="164"/>
                </a:cubicBezTo>
                <a:cubicBezTo>
                  <a:pt x="154" y="176"/>
                  <a:pt x="139" y="185"/>
                  <a:pt x="122" y="189"/>
                </a:cubicBezTo>
                <a:close/>
              </a:path>
            </a:pathLst>
          </a:custGeom>
          <a:solidFill>
            <a:srgbClr val="157E9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5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7251517" y="3267725"/>
            <a:ext cx="532684" cy="532682"/>
          </a:xfrm>
          <a:custGeom>
            <a:avLst/>
            <a:gdLst>
              <a:gd name="T0" fmla="*/ 2147483646 w 192"/>
              <a:gd name="T1" fmla="*/ 0 h 192"/>
              <a:gd name="T2" fmla="*/ 0 w 192"/>
              <a:gd name="T3" fmla="*/ 2147483646 h 192"/>
              <a:gd name="T4" fmla="*/ 2147483646 w 192"/>
              <a:gd name="T5" fmla="*/ 2147483646 h 192"/>
              <a:gd name="T6" fmla="*/ 2147483646 w 192"/>
              <a:gd name="T7" fmla="*/ 2147483646 h 192"/>
              <a:gd name="T8" fmla="*/ 2147483646 w 192"/>
              <a:gd name="T9" fmla="*/ 0 h 192"/>
              <a:gd name="T10" fmla="*/ 2147483646 w 192"/>
              <a:gd name="T11" fmla="*/ 2147483646 h 192"/>
              <a:gd name="T12" fmla="*/ 2147483646 w 192"/>
              <a:gd name="T13" fmla="*/ 2147483646 h 192"/>
              <a:gd name="T14" fmla="*/ 2147483646 w 192"/>
              <a:gd name="T15" fmla="*/ 2147483646 h 192"/>
              <a:gd name="T16" fmla="*/ 2147483646 w 192"/>
              <a:gd name="T17" fmla="*/ 2147483646 h 192"/>
              <a:gd name="T18" fmla="*/ 2147483646 w 192"/>
              <a:gd name="T19" fmla="*/ 2147483646 h 192"/>
              <a:gd name="T20" fmla="*/ 2147483646 w 192"/>
              <a:gd name="T21" fmla="*/ 2147483646 h 192"/>
              <a:gd name="T22" fmla="*/ 2147483646 w 192"/>
              <a:gd name="T23" fmla="*/ 2147483646 h 192"/>
              <a:gd name="T24" fmla="*/ 2147483646 w 192"/>
              <a:gd name="T25" fmla="*/ 2147483646 h 192"/>
              <a:gd name="T26" fmla="*/ 2147483646 w 192"/>
              <a:gd name="T27" fmla="*/ 2147483646 h 192"/>
              <a:gd name="T28" fmla="*/ 2147483646 w 192"/>
              <a:gd name="T29" fmla="*/ 2147483646 h 192"/>
              <a:gd name="T30" fmla="*/ 2147483646 w 192"/>
              <a:gd name="T31" fmla="*/ 2147483646 h 192"/>
              <a:gd name="T32" fmla="*/ 2147483646 w 192"/>
              <a:gd name="T33" fmla="*/ 2147483646 h 192"/>
              <a:gd name="T34" fmla="*/ 2147483646 w 192"/>
              <a:gd name="T35" fmla="*/ 2147483646 h 192"/>
              <a:gd name="T36" fmla="*/ 2147483646 w 192"/>
              <a:gd name="T37" fmla="*/ 2147483646 h 192"/>
              <a:gd name="T38" fmla="*/ 2147483646 w 192"/>
              <a:gd name="T39" fmla="*/ 2147483646 h 192"/>
              <a:gd name="T40" fmla="*/ 2147483646 w 192"/>
              <a:gd name="T41" fmla="*/ 2147483646 h 192"/>
              <a:gd name="T42" fmla="*/ 2147483646 w 192"/>
              <a:gd name="T43" fmla="*/ 2147483646 h 192"/>
              <a:gd name="T44" fmla="*/ 2147483646 w 192"/>
              <a:gd name="T45" fmla="*/ 2147483646 h 192"/>
              <a:gd name="T46" fmla="*/ 2147483646 w 192"/>
              <a:gd name="T47" fmla="*/ 2147483646 h 192"/>
              <a:gd name="T48" fmla="*/ 2147483646 w 192"/>
              <a:gd name="T49" fmla="*/ 2147483646 h 192"/>
              <a:gd name="T50" fmla="*/ 2147483646 w 192"/>
              <a:gd name="T51" fmla="*/ 2147483646 h 192"/>
              <a:gd name="T52" fmla="*/ 2147483646 w 192"/>
              <a:gd name="T53" fmla="*/ 2147483646 h 192"/>
              <a:gd name="T54" fmla="*/ 2147483646 w 192"/>
              <a:gd name="T55" fmla="*/ 2147483646 h 192"/>
              <a:gd name="T56" fmla="*/ 2147483646 w 192"/>
              <a:gd name="T57" fmla="*/ 2147483646 h 192"/>
              <a:gd name="T58" fmla="*/ 2147483646 w 192"/>
              <a:gd name="T59" fmla="*/ 2147483646 h 192"/>
              <a:gd name="T60" fmla="*/ 2147483646 w 192"/>
              <a:gd name="T61" fmla="*/ 2147483646 h 192"/>
              <a:gd name="T62" fmla="*/ 2147483646 w 192"/>
              <a:gd name="T63" fmla="*/ 2147483646 h 192"/>
              <a:gd name="T64" fmla="*/ 2147483646 w 192"/>
              <a:gd name="T65" fmla="*/ 2147483646 h 192"/>
              <a:gd name="T66" fmla="*/ 2147483646 w 192"/>
              <a:gd name="T67" fmla="*/ 2147483646 h 192"/>
              <a:gd name="T68" fmla="*/ 2147483646 w 192"/>
              <a:gd name="T69" fmla="*/ 2147483646 h 192"/>
              <a:gd name="T70" fmla="*/ 2147483646 w 192"/>
              <a:gd name="T71" fmla="*/ 2147483646 h 192"/>
              <a:gd name="T72" fmla="*/ 2147483646 w 192"/>
              <a:gd name="T73" fmla="*/ 2147483646 h 192"/>
              <a:gd name="T74" fmla="*/ 2147483646 w 192"/>
              <a:gd name="T75" fmla="*/ 2147483646 h 192"/>
              <a:gd name="T76" fmla="*/ 2147483646 w 192"/>
              <a:gd name="T77" fmla="*/ 2147483646 h 192"/>
              <a:gd name="T78" fmla="*/ 2147483646 w 192"/>
              <a:gd name="T79" fmla="*/ 2147483646 h 192"/>
              <a:gd name="T80" fmla="*/ 2147483646 w 192"/>
              <a:gd name="T81" fmla="*/ 2147483646 h 192"/>
              <a:gd name="T82" fmla="*/ 2147483646 w 192"/>
              <a:gd name="T83" fmla="*/ 2147483646 h 192"/>
              <a:gd name="T84" fmla="*/ 2147483646 w 192"/>
              <a:gd name="T85" fmla="*/ 2147483646 h 192"/>
              <a:gd name="T86" fmla="*/ 2147483646 w 192"/>
              <a:gd name="T87" fmla="*/ 2147483646 h 192"/>
              <a:gd name="T88" fmla="*/ 2147483646 w 192"/>
              <a:gd name="T89" fmla="*/ 2147483646 h 192"/>
              <a:gd name="T90" fmla="*/ 2147483646 w 192"/>
              <a:gd name="T91" fmla="*/ 2147483646 h 192"/>
              <a:gd name="T92" fmla="*/ 2147483646 w 192"/>
              <a:gd name="T93" fmla="*/ 2147483646 h 192"/>
              <a:gd name="T94" fmla="*/ 2147483646 w 192"/>
              <a:gd name="T95" fmla="*/ 2147483646 h 192"/>
              <a:gd name="T96" fmla="*/ 2147483646 w 192"/>
              <a:gd name="T97" fmla="*/ 2147483646 h 192"/>
              <a:gd name="T98" fmla="*/ 2147483646 w 192"/>
              <a:gd name="T99" fmla="*/ 2147483646 h 192"/>
              <a:gd name="T100" fmla="*/ 2147483646 w 192"/>
              <a:gd name="T101" fmla="*/ 2147483646 h 192"/>
              <a:gd name="T102" fmla="*/ 2147483646 w 192"/>
              <a:gd name="T103" fmla="*/ 2147483646 h 192"/>
              <a:gd name="T104" fmla="*/ 2147483646 w 192"/>
              <a:gd name="T105" fmla="*/ 2147483646 h 192"/>
              <a:gd name="T106" fmla="*/ 2147483646 w 192"/>
              <a:gd name="T107" fmla="*/ 2147483646 h 192"/>
              <a:gd name="T108" fmla="*/ 2147483646 w 192"/>
              <a:gd name="T109" fmla="*/ 2147483646 h 192"/>
              <a:gd name="T110" fmla="*/ 2147483646 w 192"/>
              <a:gd name="T111" fmla="*/ 2147483646 h 192"/>
              <a:gd name="T112" fmla="*/ 2147483646 w 192"/>
              <a:gd name="T113" fmla="*/ 2147483646 h 19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96" y="8"/>
                </a:moveTo>
                <a:cubicBezTo>
                  <a:pt x="145" y="8"/>
                  <a:pt x="184" y="47"/>
                  <a:pt x="184" y="96"/>
                </a:cubicBezTo>
                <a:cubicBezTo>
                  <a:pt x="184" y="117"/>
                  <a:pt x="177" y="137"/>
                  <a:pt x="164" y="152"/>
                </a:cubicBezTo>
                <a:cubicBezTo>
                  <a:pt x="155" y="148"/>
                  <a:pt x="135" y="141"/>
                  <a:pt x="122" y="137"/>
                </a:cubicBezTo>
                <a:cubicBezTo>
                  <a:pt x="121" y="137"/>
                  <a:pt x="121" y="137"/>
                  <a:pt x="121" y="132"/>
                </a:cubicBezTo>
                <a:cubicBezTo>
                  <a:pt x="121" y="128"/>
                  <a:pt x="122" y="125"/>
                  <a:pt x="124" y="121"/>
                </a:cubicBezTo>
                <a:cubicBezTo>
                  <a:pt x="125" y="118"/>
                  <a:pt x="127" y="112"/>
                  <a:pt x="128" y="107"/>
                </a:cubicBezTo>
                <a:cubicBezTo>
                  <a:pt x="130" y="105"/>
                  <a:pt x="132" y="100"/>
                  <a:pt x="134" y="92"/>
                </a:cubicBezTo>
                <a:cubicBezTo>
                  <a:pt x="136" y="84"/>
                  <a:pt x="135" y="81"/>
                  <a:pt x="134" y="79"/>
                </a:cubicBezTo>
                <a:cubicBezTo>
                  <a:pt x="134" y="79"/>
                  <a:pt x="134" y="78"/>
                  <a:pt x="134" y="78"/>
                </a:cubicBezTo>
                <a:cubicBezTo>
                  <a:pt x="133" y="76"/>
                  <a:pt x="134" y="67"/>
                  <a:pt x="135" y="60"/>
                </a:cubicBezTo>
                <a:cubicBezTo>
                  <a:pt x="136" y="55"/>
                  <a:pt x="135" y="45"/>
                  <a:pt x="128" y="36"/>
                </a:cubicBezTo>
                <a:cubicBezTo>
                  <a:pt x="124" y="31"/>
                  <a:pt x="116" y="24"/>
                  <a:pt x="101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79" y="24"/>
                  <a:pt x="70" y="31"/>
                  <a:pt x="66" y="36"/>
                </a:cubicBezTo>
                <a:cubicBezTo>
                  <a:pt x="60" y="45"/>
                  <a:pt x="58" y="55"/>
                  <a:pt x="59" y="60"/>
                </a:cubicBezTo>
                <a:cubicBezTo>
                  <a:pt x="61" y="67"/>
                  <a:pt x="61" y="76"/>
                  <a:pt x="61" y="78"/>
                </a:cubicBezTo>
                <a:cubicBezTo>
                  <a:pt x="61" y="78"/>
                  <a:pt x="61" y="79"/>
                  <a:pt x="60" y="79"/>
                </a:cubicBezTo>
                <a:cubicBezTo>
                  <a:pt x="60" y="81"/>
                  <a:pt x="59" y="84"/>
                  <a:pt x="60" y="92"/>
                </a:cubicBezTo>
                <a:cubicBezTo>
                  <a:pt x="62" y="100"/>
                  <a:pt x="65" y="105"/>
                  <a:pt x="67" y="107"/>
                </a:cubicBezTo>
                <a:cubicBezTo>
                  <a:pt x="67" y="112"/>
                  <a:pt x="69" y="118"/>
                  <a:pt x="71" y="121"/>
                </a:cubicBezTo>
                <a:cubicBezTo>
                  <a:pt x="72" y="124"/>
                  <a:pt x="73" y="127"/>
                  <a:pt x="73" y="132"/>
                </a:cubicBezTo>
                <a:cubicBezTo>
                  <a:pt x="73" y="137"/>
                  <a:pt x="72" y="137"/>
                  <a:pt x="71" y="137"/>
                </a:cubicBezTo>
                <a:cubicBezTo>
                  <a:pt x="58" y="141"/>
                  <a:pt x="37" y="149"/>
                  <a:pt x="29" y="152"/>
                </a:cubicBezTo>
                <a:cubicBezTo>
                  <a:pt x="16" y="137"/>
                  <a:pt x="8" y="117"/>
                  <a:pt x="8" y="96"/>
                </a:cubicBezTo>
                <a:cubicBezTo>
                  <a:pt x="8" y="47"/>
                  <a:pt x="48" y="8"/>
                  <a:pt x="96" y="8"/>
                </a:cubicBezTo>
                <a:close/>
                <a:moveTo>
                  <a:pt x="35" y="159"/>
                </a:moveTo>
                <a:cubicBezTo>
                  <a:pt x="44" y="155"/>
                  <a:pt x="62" y="148"/>
                  <a:pt x="74" y="145"/>
                </a:cubicBezTo>
                <a:cubicBezTo>
                  <a:pt x="81" y="143"/>
                  <a:pt x="81" y="137"/>
                  <a:pt x="81" y="132"/>
                </a:cubicBezTo>
                <a:cubicBezTo>
                  <a:pt x="81" y="129"/>
                  <a:pt x="80" y="123"/>
                  <a:pt x="78" y="118"/>
                </a:cubicBezTo>
                <a:cubicBezTo>
                  <a:pt x="77" y="115"/>
                  <a:pt x="75" y="109"/>
                  <a:pt x="74" y="105"/>
                </a:cubicBezTo>
                <a:cubicBezTo>
                  <a:pt x="74" y="104"/>
                  <a:pt x="74" y="103"/>
                  <a:pt x="73" y="102"/>
                </a:cubicBezTo>
                <a:cubicBezTo>
                  <a:pt x="72" y="101"/>
                  <a:pt x="70" y="97"/>
                  <a:pt x="68" y="90"/>
                </a:cubicBezTo>
                <a:cubicBezTo>
                  <a:pt x="67" y="84"/>
                  <a:pt x="67" y="83"/>
                  <a:pt x="68" y="82"/>
                </a:cubicBezTo>
                <a:cubicBezTo>
                  <a:pt x="68" y="81"/>
                  <a:pt x="68" y="81"/>
                  <a:pt x="69" y="80"/>
                </a:cubicBezTo>
                <a:cubicBezTo>
                  <a:pt x="69" y="77"/>
                  <a:pt x="68" y="65"/>
                  <a:pt x="67" y="59"/>
                </a:cubicBezTo>
                <a:cubicBezTo>
                  <a:pt x="67" y="56"/>
                  <a:pt x="67" y="48"/>
                  <a:pt x="73" y="41"/>
                </a:cubicBezTo>
                <a:cubicBezTo>
                  <a:pt x="77" y="35"/>
                  <a:pt x="84" y="32"/>
                  <a:pt x="93" y="32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10" y="32"/>
                  <a:pt x="117" y="35"/>
                  <a:pt x="122" y="41"/>
                </a:cubicBezTo>
                <a:cubicBezTo>
                  <a:pt x="127" y="48"/>
                  <a:pt x="128" y="56"/>
                  <a:pt x="127" y="59"/>
                </a:cubicBezTo>
                <a:cubicBezTo>
                  <a:pt x="126" y="65"/>
                  <a:pt x="125" y="77"/>
                  <a:pt x="126" y="80"/>
                </a:cubicBezTo>
                <a:cubicBezTo>
                  <a:pt x="126" y="81"/>
                  <a:pt x="126" y="81"/>
                  <a:pt x="126" y="82"/>
                </a:cubicBezTo>
                <a:cubicBezTo>
                  <a:pt x="127" y="83"/>
                  <a:pt x="127" y="84"/>
                  <a:pt x="126" y="90"/>
                </a:cubicBezTo>
                <a:cubicBezTo>
                  <a:pt x="125" y="97"/>
                  <a:pt x="123" y="101"/>
                  <a:pt x="121" y="102"/>
                </a:cubicBezTo>
                <a:cubicBezTo>
                  <a:pt x="121" y="103"/>
                  <a:pt x="120" y="104"/>
                  <a:pt x="120" y="105"/>
                </a:cubicBezTo>
                <a:cubicBezTo>
                  <a:pt x="120" y="109"/>
                  <a:pt x="118" y="115"/>
                  <a:pt x="116" y="118"/>
                </a:cubicBezTo>
                <a:cubicBezTo>
                  <a:pt x="115" y="122"/>
                  <a:pt x="113" y="127"/>
                  <a:pt x="113" y="132"/>
                </a:cubicBezTo>
                <a:cubicBezTo>
                  <a:pt x="113" y="137"/>
                  <a:pt x="113" y="143"/>
                  <a:pt x="119" y="145"/>
                </a:cubicBezTo>
                <a:cubicBezTo>
                  <a:pt x="131" y="148"/>
                  <a:pt x="149" y="154"/>
                  <a:pt x="158" y="158"/>
                </a:cubicBezTo>
                <a:cubicBezTo>
                  <a:pt x="142" y="174"/>
                  <a:pt x="121" y="184"/>
                  <a:pt x="96" y="184"/>
                </a:cubicBezTo>
                <a:cubicBezTo>
                  <a:pt x="73" y="184"/>
                  <a:pt x="51" y="174"/>
                  <a:pt x="35" y="159"/>
                </a:cubicBezTo>
                <a:close/>
              </a:path>
            </a:pathLst>
          </a:custGeom>
          <a:solidFill>
            <a:srgbClr val="157E9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5" name="组合 94"/>
          <p:cNvGrpSpPr/>
          <p:nvPr>
            <p:custDataLst>
              <p:tags r:id="rId10"/>
            </p:custDataLst>
          </p:nvPr>
        </p:nvGrpSpPr>
        <p:grpSpPr>
          <a:xfrm>
            <a:off x="6938898" y="4425706"/>
            <a:ext cx="403242" cy="538050"/>
            <a:chOff x="7889875" y="5105400"/>
            <a:chExt cx="541338" cy="722313"/>
          </a:xfrm>
          <a:solidFill>
            <a:srgbClr val="157E9F"/>
          </a:solidFill>
        </p:grpSpPr>
        <p:sp>
          <p:nvSpPr>
            <p:cNvPr id="96" name="Freeform 58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7950200" y="5180013"/>
              <a:ext cx="420688" cy="120650"/>
            </a:xfrm>
            <a:custGeom>
              <a:avLst/>
              <a:gdLst>
                <a:gd name="T0" fmla="*/ 0 w 265"/>
                <a:gd name="T1" fmla="*/ 76 h 76"/>
                <a:gd name="T2" fmla="*/ 265 w 265"/>
                <a:gd name="T3" fmla="*/ 76 h 76"/>
                <a:gd name="T4" fmla="*/ 265 w 265"/>
                <a:gd name="T5" fmla="*/ 0 h 76"/>
                <a:gd name="T6" fmla="*/ 0 w 265"/>
                <a:gd name="T7" fmla="*/ 0 h 76"/>
                <a:gd name="T8" fmla="*/ 0 w 265"/>
                <a:gd name="T9" fmla="*/ 76 h 76"/>
                <a:gd name="T10" fmla="*/ 19 w 265"/>
                <a:gd name="T11" fmla="*/ 19 h 76"/>
                <a:gd name="T12" fmla="*/ 246 w 265"/>
                <a:gd name="T13" fmla="*/ 19 h 76"/>
                <a:gd name="T14" fmla="*/ 246 w 265"/>
                <a:gd name="T15" fmla="*/ 57 h 76"/>
                <a:gd name="T16" fmla="*/ 19 w 265"/>
                <a:gd name="T17" fmla="*/ 57 h 76"/>
                <a:gd name="T18" fmla="*/ 19 w 265"/>
                <a:gd name="T19" fmla="*/ 19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76">
                  <a:moveTo>
                    <a:pt x="0" y="76"/>
                  </a:moveTo>
                  <a:lnTo>
                    <a:pt x="265" y="76"/>
                  </a:lnTo>
                  <a:lnTo>
                    <a:pt x="265" y="0"/>
                  </a:lnTo>
                  <a:lnTo>
                    <a:pt x="0" y="0"/>
                  </a:lnTo>
                  <a:lnTo>
                    <a:pt x="0" y="76"/>
                  </a:lnTo>
                  <a:close/>
                  <a:moveTo>
                    <a:pt x="19" y="19"/>
                  </a:moveTo>
                  <a:lnTo>
                    <a:pt x="246" y="19"/>
                  </a:lnTo>
                  <a:lnTo>
                    <a:pt x="246" y="57"/>
                  </a:lnTo>
                  <a:lnTo>
                    <a:pt x="19" y="57"/>
                  </a:lnTo>
                  <a:lnTo>
                    <a:pt x="19" y="1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7" name="Freeform 59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889875" y="5105400"/>
              <a:ext cx="541338" cy="722313"/>
            </a:xfrm>
            <a:custGeom>
              <a:avLst/>
              <a:gdLst>
                <a:gd name="T0" fmla="*/ 128 w 144"/>
                <a:gd name="T1" fmla="*/ 0 h 192"/>
                <a:gd name="T2" fmla="*/ 16 w 144"/>
                <a:gd name="T3" fmla="*/ 0 h 192"/>
                <a:gd name="T4" fmla="*/ 0 w 144"/>
                <a:gd name="T5" fmla="*/ 16 h 192"/>
                <a:gd name="T6" fmla="*/ 0 w 144"/>
                <a:gd name="T7" fmla="*/ 176 h 192"/>
                <a:gd name="T8" fmla="*/ 16 w 144"/>
                <a:gd name="T9" fmla="*/ 192 h 192"/>
                <a:gd name="T10" fmla="*/ 128 w 144"/>
                <a:gd name="T11" fmla="*/ 192 h 192"/>
                <a:gd name="T12" fmla="*/ 144 w 144"/>
                <a:gd name="T13" fmla="*/ 176 h 192"/>
                <a:gd name="T14" fmla="*/ 144 w 144"/>
                <a:gd name="T15" fmla="*/ 16 h 192"/>
                <a:gd name="T16" fmla="*/ 128 w 144"/>
                <a:gd name="T17" fmla="*/ 0 h 192"/>
                <a:gd name="T18" fmla="*/ 136 w 144"/>
                <a:gd name="T19" fmla="*/ 176 h 192"/>
                <a:gd name="T20" fmla="*/ 128 w 144"/>
                <a:gd name="T21" fmla="*/ 184 h 192"/>
                <a:gd name="T22" fmla="*/ 16 w 144"/>
                <a:gd name="T23" fmla="*/ 184 h 192"/>
                <a:gd name="T24" fmla="*/ 8 w 144"/>
                <a:gd name="T25" fmla="*/ 176 h 192"/>
                <a:gd name="T26" fmla="*/ 8 w 144"/>
                <a:gd name="T27" fmla="*/ 16 h 192"/>
                <a:gd name="T28" fmla="*/ 16 w 144"/>
                <a:gd name="T29" fmla="*/ 8 h 192"/>
                <a:gd name="T30" fmla="*/ 128 w 144"/>
                <a:gd name="T31" fmla="*/ 8 h 192"/>
                <a:gd name="T32" fmla="*/ 136 w 144"/>
                <a:gd name="T33" fmla="*/ 16 h 192"/>
                <a:gd name="T34" fmla="*/ 136 w 144"/>
                <a:gd name="T35" fmla="*/ 17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" h="192">
                  <a:moveTo>
                    <a:pt x="128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84"/>
                    <a:pt x="8" y="192"/>
                    <a:pt x="16" y="192"/>
                  </a:cubicBezTo>
                  <a:cubicBezTo>
                    <a:pt x="128" y="192"/>
                    <a:pt x="128" y="192"/>
                    <a:pt x="128" y="192"/>
                  </a:cubicBezTo>
                  <a:cubicBezTo>
                    <a:pt x="137" y="192"/>
                    <a:pt x="144" y="184"/>
                    <a:pt x="144" y="176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44" y="7"/>
                    <a:pt x="137" y="0"/>
                    <a:pt x="128" y="0"/>
                  </a:cubicBezTo>
                  <a:close/>
                  <a:moveTo>
                    <a:pt x="136" y="176"/>
                  </a:moveTo>
                  <a:cubicBezTo>
                    <a:pt x="136" y="180"/>
                    <a:pt x="133" y="184"/>
                    <a:pt x="128" y="184"/>
                  </a:cubicBezTo>
                  <a:cubicBezTo>
                    <a:pt x="16" y="184"/>
                    <a:pt x="16" y="184"/>
                    <a:pt x="16" y="184"/>
                  </a:cubicBezTo>
                  <a:cubicBezTo>
                    <a:pt x="12" y="184"/>
                    <a:pt x="8" y="180"/>
                    <a:pt x="8" y="17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33" y="8"/>
                    <a:pt x="136" y="11"/>
                    <a:pt x="136" y="16"/>
                  </a:cubicBezTo>
                  <a:lnTo>
                    <a:pt x="136" y="1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8" name="Freeform 60"/>
            <p:cNvSpPr/>
            <p:nvPr>
              <p:custDataLst>
                <p:tags r:id="rId13"/>
              </p:custDataLst>
            </p:nvPr>
          </p:nvSpPr>
          <p:spPr bwMode="auto">
            <a:xfrm>
              <a:off x="7950200" y="5346700"/>
              <a:ext cx="120650" cy="119063"/>
            </a:xfrm>
            <a:custGeom>
              <a:avLst/>
              <a:gdLst>
                <a:gd name="T0" fmla="*/ 19 w 76"/>
                <a:gd name="T1" fmla="*/ 56 h 75"/>
                <a:gd name="T2" fmla="*/ 19 w 76"/>
                <a:gd name="T3" fmla="*/ 19 h 75"/>
                <a:gd name="T4" fmla="*/ 19 w 76"/>
                <a:gd name="T5" fmla="*/ 0 h 75"/>
                <a:gd name="T6" fmla="*/ 0 w 76"/>
                <a:gd name="T7" fmla="*/ 0 h 75"/>
                <a:gd name="T8" fmla="*/ 0 w 76"/>
                <a:gd name="T9" fmla="*/ 75 h 75"/>
                <a:gd name="T10" fmla="*/ 76 w 76"/>
                <a:gd name="T11" fmla="*/ 75 h 75"/>
                <a:gd name="T12" fmla="*/ 76 w 76"/>
                <a:gd name="T13" fmla="*/ 56 h 75"/>
                <a:gd name="T14" fmla="*/ 57 w 76"/>
                <a:gd name="T15" fmla="*/ 56 h 75"/>
                <a:gd name="T16" fmla="*/ 19 w 76"/>
                <a:gd name="T17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75">
                  <a:moveTo>
                    <a:pt x="19" y="56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76" y="75"/>
                  </a:lnTo>
                  <a:lnTo>
                    <a:pt x="76" y="56"/>
                  </a:lnTo>
                  <a:lnTo>
                    <a:pt x="57" y="56"/>
                  </a:lnTo>
                  <a:lnTo>
                    <a:pt x="19" y="5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9" name="Freeform 61"/>
            <p:cNvSpPr/>
            <p:nvPr>
              <p:custDataLst>
                <p:tags r:id="rId14"/>
              </p:custDataLst>
            </p:nvPr>
          </p:nvSpPr>
          <p:spPr bwMode="auto">
            <a:xfrm>
              <a:off x="7950200" y="5495925"/>
              <a:ext cx="120650" cy="120650"/>
            </a:xfrm>
            <a:custGeom>
              <a:avLst/>
              <a:gdLst>
                <a:gd name="T0" fmla="*/ 19 w 76"/>
                <a:gd name="T1" fmla="*/ 57 h 76"/>
                <a:gd name="T2" fmla="*/ 19 w 76"/>
                <a:gd name="T3" fmla="*/ 19 h 76"/>
                <a:gd name="T4" fmla="*/ 19 w 76"/>
                <a:gd name="T5" fmla="*/ 0 h 76"/>
                <a:gd name="T6" fmla="*/ 0 w 76"/>
                <a:gd name="T7" fmla="*/ 0 h 76"/>
                <a:gd name="T8" fmla="*/ 0 w 76"/>
                <a:gd name="T9" fmla="*/ 76 h 76"/>
                <a:gd name="T10" fmla="*/ 76 w 76"/>
                <a:gd name="T11" fmla="*/ 76 h 76"/>
                <a:gd name="T12" fmla="*/ 76 w 76"/>
                <a:gd name="T13" fmla="*/ 57 h 76"/>
                <a:gd name="T14" fmla="*/ 57 w 76"/>
                <a:gd name="T15" fmla="*/ 57 h 76"/>
                <a:gd name="T16" fmla="*/ 19 w 76"/>
                <a:gd name="T17" fmla="*/ 5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76">
                  <a:moveTo>
                    <a:pt x="19" y="57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76" y="76"/>
                  </a:lnTo>
                  <a:lnTo>
                    <a:pt x="76" y="57"/>
                  </a:lnTo>
                  <a:lnTo>
                    <a:pt x="57" y="57"/>
                  </a:lnTo>
                  <a:lnTo>
                    <a:pt x="19" y="5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0" name="Freeform 62"/>
            <p:cNvSpPr/>
            <p:nvPr>
              <p:custDataLst>
                <p:tags r:id="rId15"/>
              </p:custDataLst>
            </p:nvPr>
          </p:nvSpPr>
          <p:spPr bwMode="auto">
            <a:xfrm>
              <a:off x="7950200" y="5646738"/>
              <a:ext cx="120650" cy="120650"/>
            </a:xfrm>
            <a:custGeom>
              <a:avLst/>
              <a:gdLst>
                <a:gd name="T0" fmla="*/ 19 w 76"/>
                <a:gd name="T1" fmla="*/ 57 h 76"/>
                <a:gd name="T2" fmla="*/ 19 w 76"/>
                <a:gd name="T3" fmla="*/ 19 h 76"/>
                <a:gd name="T4" fmla="*/ 19 w 76"/>
                <a:gd name="T5" fmla="*/ 0 h 76"/>
                <a:gd name="T6" fmla="*/ 0 w 76"/>
                <a:gd name="T7" fmla="*/ 0 h 76"/>
                <a:gd name="T8" fmla="*/ 0 w 76"/>
                <a:gd name="T9" fmla="*/ 76 h 76"/>
                <a:gd name="T10" fmla="*/ 76 w 76"/>
                <a:gd name="T11" fmla="*/ 76 h 76"/>
                <a:gd name="T12" fmla="*/ 76 w 76"/>
                <a:gd name="T13" fmla="*/ 57 h 76"/>
                <a:gd name="T14" fmla="*/ 57 w 76"/>
                <a:gd name="T15" fmla="*/ 57 h 76"/>
                <a:gd name="T16" fmla="*/ 19 w 76"/>
                <a:gd name="T17" fmla="*/ 5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76">
                  <a:moveTo>
                    <a:pt x="19" y="57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76" y="76"/>
                  </a:lnTo>
                  <a:lnTo>
                    <a:pt x="76" y="57"/>
                  </a:lnTo>
                  <a:lnTo>
                    <a:pt x="57" y="57"/>
                  </a:lnTo>
                  <a:lnTo>
                    <a:pt x="19" y="5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1" name="Freeform 63"/>
            <p:cNvSpPr/>
            <p:nvPr>
              <p:custDataLst>
                <p:tags r:id="rId16"/>
              </p:custDataLst>
            </p:nvPr>
          </p:nvSpPr>
          <p:spPr bwMode="auto">
            <a:xfrm>
              <a:off x="8101013" y="5346700"/>
              <a:ext cx="119063" cy="119063"/>
            </a:xfrm>
            <a:custGeom>
              <a:avLst/>
              <a:gdLst>
                <a:gd name="T0" fmla="*/ 19 w 75"/>
                <a:gd name="T1" fmla="*/ 56 h 75"/>
                <a:gd name="T2" fmla="*/ 19 w 75"/>
                <a:gd name="T3" fmla="*/ 19 h 75"/>
                <a:gd name="T4" fmla="*/ 19 w 75"/>
                <a:gd name="T5" fmla="*/ 0 h 75"/>
                <a:gd name="T6" fmla="*/ 0 w 75"/>
                <a:gd name="T7" fmla="*/ 0 h 75"/>
                <a:gd name="T8" fmla="*/ 0 w 75"/>
                <a:gd name="T9" fmla="*/ 75 h 75"/>
                <a:gd name="T10" fmla="*/ 75 w 75"/>
                <a:gd name="T11" fmla="*/ 75 h 75"/>
                <a:gd name="T12" fmla="*/ 75 w 75"/>
                <a:gd name="T13" fmla="*/ 56 h 75"/>
                <a:gd name="T14" fmla="*/ 57 w 75"/>
                <a:gd name="T15" fmla="*/ 56 h 75"/>
                <a:gd name="T16" fmla="*/ 19 w 75"/>
                <a:gd name="T17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75">
                  <a:moveTo>
                    <a:pt x="19" y="56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75" y="75"/>
                  </a:lnTo>
                  <a:lnTo>
                    <a:pt x="75" y="56"/>
                  </a:lnTo>
                  <a:lnTo>
                    <a:pt x="57" y="56"/>
                  </a:lnTo>
                  <a:lnTo>
                    <a:pt x="19" y="5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" name="Freeform 64"/>
            <p:cNvSpPr/>
            <p:nvPr>
              <p:custDataLst>
                <p:tags r:id="rId17"/>
              </p:custDataLst>
            </p:nvPr>
          </p:nvSpPr>
          <p:spPr bwMode="auto">
            <a:xfrm>
              <a:off x="8250238" y="5346700"/>
              <a:ext cx="120650" cy="119063"/>
            </a:xfrm>
            <a:custGeom>
              <a:avLst/>
              <a:gdLst>
                <a:gd name="T0" fmla="*/ 19 w 76"/>
                <a:gd name="T1" fmla="*/ 56 h 75"/>
                <a:gd name="T2" fmla="*/ 19 w 76"/>
                <a:gd name="T3" fmla="*/ 19 h 75"/>
                <a:gd name="T4" fmla="*/ 19 w 76"/>
                <a:gd name="T5" fmla="*/ 0 h 75"/>
                <a:gd name="T6" fmla="*/ 0 w 76"/>
                <a:gd name="T7" fmla="*/ 0 h 75"/>
                <a:gd name="T8" fmla="*/ 0 w 76"/>
                <a:gd name="T9" fmla="*/ 75 h 75"/>
                <a:gd name="T10" fmla="*/ 76 w 76"/>
                <a:gd name="T11" fmla="*/ 75 h 75"/>
                <a:gd name="T12" fmla="*/ 76 w 76"/>
                <a:gd name="T13" fmla="*/ 56 h 75"/>
                <a:gd name="T14" fmla="*/ 57 w 76"/>
                <a:gd name="T15" fmla="*/ 56 h 75"/>
                <a:gd name="T16" fmla="*/ 19 w 76"/>
                <a:gd name="T17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75">
                  <a:moveTo>
                    <a:pt x="19" y="56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76" y="75"/>
                  </a:lnTo>
                  <a:lnTo>
                    <a:pt x="76" y="56"/>
                  </a:lnTo>
                  <a:lnTo>
                    <a:pt x="57" y="56"/>
                  </a:lnTo>
                  <a:lnTo>
                    <a:pt x="19" y="5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" name="Freeform 65"/>
            <p:cNvSpPr/>
            <p:nvPr>
              <p:custDataLst>
                <p:tags r:id="rId18"/>
              </p:custDataLst>
            </p:nvPr>
          </p:nvSpPr>
          <p:spPr bwMode="auto">
            <a:xfrm>
              <a:off x="8101013" y="5495925"/>
              <a:ext cx="119063" cy="120650"/>
            </a:xfrm>
            <a:custGeom>
              <a:avLst/>
              <a:gdLst>
                <a:gd name="T0" fmla="*/ 19 w 75"/>
                <a:gd name="T1" fmla="*/ 57 h 76"/>
                <a:gd name="T2" fmla="*/ 19 w 75"/>
                <a:gd name="T3" fmla="*/ 19 h 76"/>
                <a:gd name="T4" fmla="*/ 19 w 75"/>
                <a:gd name="T5" fmla="*/ 0 h 76"/>
                <a:gd name="T6" fmla="*/ 0 w 75"/>
                <a:gd name="T7" fmla="*/ 0 h 76"/>
                <a:gd name="T8" fmla="*/ 0 w 75"/>
                <a:gd name="T9" fmla="*/ 76 h 76"/>
                <a:gd name="T10" fmla="*/ 75 w 75"/>
                <a:gd name="T11" fmla="*/ 76 h 76"/>
                <a:gd name="T12" fmla="*/ 75 w 75"/>
                <a:gd name="T13" fmla="*/ 57 h 76"/>
                <a:gd name="T14" fmla="*/ 57 w 75"/>
                <a:gd name="T15" fmla="*/ 57 h 76"/>
                <a:gd name="T16" fmla="*/ 19 w 75"/>
                <a:gd name="T17" fmla="*/ 5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76">
                  <a:moveTo>
                    <a:pt x="19" y="57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75" y="76"/>
                  </a:lnTo>
                  <a:lnTo>
                    <a:pt x="75" y="57"/>
                  </a:lnTo>
                  <a:lnTo>
                    <a:pt x="57" y="57"/>
                  </a:lnTo>
                  <a:lnTo>
                    <a:pt x="19" y="5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" name="Freeform 66"/>
            <p:cNvSpPr/>
            <p:nvPr>
              <p:custDataLst>
                <p:tags r:id="rId19"/>
              </p:custDataLst>
            </p:nvPr>
          </p:nvSpPr>
          <p:spPr bwMode="auto">
            <a:xfrm>
              <a:off x="8101013" y="5646738"/>
              <a:ext cx="119063" cy="120650"/>
            </a:xfrm>
            <a:custGeom>
              <a:avLst/>
              <a:gdLst>
                <a:gd name="T0" fmla="*/ 19 w 75"/>
                <a:gd name="T1" fmla="*/ 57 h 76"/>
                <a:gd name="T2" fmla="*/ 19 w 75"/>
                <a:gd name="T3" fmla="*/ 19 h 76"/>
                <a:gd name="T4" fmla="*/ 19 w 75"/>
                <a:gd name="T5" fmla="*/ 0 h 76"/>
                <a:gd name="T6" fmla="*/ 0 w 75"/>
                <a:gd name="T7" fmla="*/ 0 h 76"/>
                <a:gd name="T8" fmla="*/ 0 w 75"/>
                <a:gd name="T9" fmla="*/ 76 h 76"/>
                <a:gd name="T10" fmla="*/ 75 w 75"/>
                <a:gd name="T11" fmla="*/ 76 h 76"/>
                <a:gd name="T12" fmla="*/ 75 w 75"/>
                <a:gd name="T13" fmla="*/ 57 h 76"/>
                <a:gd name="T14" fmla="*/ 57 w 75"/>
                <a:gd name="T15" fmla="*/ 57 h 76"/>
                <a:gd name="T16" fmla="*/ 19 w 75"/>
                <a:gd name="T17" fmla="*/ 5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76">
                  <a:moveTo>
                    <a:pt x="19" y="57"/>
                  </a:moveTo>
                  <a:lnTo>
                    <a:pt x="19" y="1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75" y="76"/>
                  </a:lnTo>
                  <a:lnTo>
                    <a:pt x="75" y="57"/>
                  </a:lnTo>
                  <a:lnTo>
                    <a:pt x="57" y="57"/>
                  </a:lnTo>
                  <a:lnTo>
                    <a:pt x="19" y="5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" name="Freeform 67"/>
            <p:cNvSpPr/>
            <p:nvPr>
              <p:custDataLst>
                <p:tags r:id="rId20"/>
              </p:custDataLst>
            </p:nvPr>
          </p:nvSpPr>
          <p:spPr bwMode="auto">
            <a:xfrm>
              <a:off x="8250238" y="5495925"/>
              <a:ext cx="120650" cy="271463"/>
            </a:xfrm>
            <a:custGeom>
              <a:avLst/>
              <a:gdLst>
                <a:gd name="T0" fmla="*/ 19 w 76"/>
                <a:gd name="T1" fmla="*/ 152 h 171"/>
                <a:gd name="T2" fmla="*/ 19 w 76"/>
                <a:gd name="T3" fmla="*/ 114 h 171"/>
                <a:gd name="T4" fmla="*/ 19 w 76"/>
                <a:gd name="T5" fmla="*/ 0 h 171"/>
                <a:gd name="T6" fmla="*/ 0 w 76"/>
                <a:gd name="T7" fmla="*/ 0 h 171"/>
                <a:gd name="T8" fmla="*/ 0 w 76"/>
                <a:gd name="T9" fmla="*/ 171 h 171"/>
                <a:gd name="T10" fmla="*/ 76 w 76"/>
                <a:gd name="T11" fmla="*/ 171 h 171"/>
                <a:gd name="T12" fmla="*/ 76 w 76"/>
                <a:gd name="T13" fmla="*/ 152 h 171"/>
                <a:gd name="T14" fmla="*/ 57 w 76"/>
                <a:gd name="T15" fmla="*/ 152 h 171"/>
                <a:gd name="T16" fmla="*/ 19 w 76"/>
                <a:gd name="T17" fmla="*/ 15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171">
                  <a:moveTo>
                    <a:pt x="19" y="152"/>
                  </a:moveTo>
                  <a:lnTo>
                    <a:pt x="19" y="114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71"/>
                  </a:lnTo>
                  <a:lnTo>
                    <a:pt x="76" y="171"/>
                  </a:lnTo>
                  <a:lnTo>
                    <a:pt x="76" y="152"/>
                  </a:lnTo>
                  <a:lnTo>
                    <a:pt x="57" y="152"/>
                  </a:lnTo>
                  <a:lnTo>
                    <a:pt x="19" y="15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6" name="组合 105"/>
          <p:cNvGrpSpPr/>
          <p:nvPr>
            <p:custDataLst>
              <p:tags r:id="rId21"/>
            </p:custDataLst>
          </p:nvPr>
        </p:nvGrpSpPr>
        <p:grpSpPr>
          <a:xfrm>
            <a:off x="4587002" y="3776546"/>
            <a:ext cx="707142" cy="448189"/>
            <a:chOff x="2311400" y="5180013"/>
            <a:chExt cx="901700" cy="571500"/>
          </a:xfrm>
          <a:solidFill>
            <a:srgbClr val="157E9F"/>
          </a:solidFill>
        </p:grpSpPr>
        <p:sp>
          <p:nvSpPr>
            <p:cNvPr id="107" name="Freeform 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2311400" y="5180013"/>
              <a:ext cx="901700" cy="571500"/>
            </a:xfrm>
            <a:custGeom>
              <a:avLst/>
              <a:gdLst>
                <a:gd name="T0" fmla="*/ 196 w 240"/>
                <a:gd name="T1" fmla="*/ 64 h 152"/>
                <a:gd name="T2" fmla="*/ 196 w 240"/>
                <a:gd name="T3" fmla="*/ 62 h 152"/>
                <a:gd name="T4" fmla="*/ 134 w 240"/>
                <a:gd name="T5" fmla="*/ 0 h 152"/>
                <a:gd name="T6" fmla="*/ 78 w 240"/>
                <a:gd name="T7" fmla="*/ 35 h 152"/>
                <a:gd name="T8" fmla="*/ 64 w 240"/>
                <a:gd name="T9" fmla="*/ 32 h 152"/>
                <a:gd name="T10" fmla="*/ 32 w 240"/>
                <a:gd name="T11" fmla="*/ 58 h 152"/>
                <a:gd name="T12" fmla="*/ 0 w 240"/>
                <a:gd name="T13" fmla="*/ 104 h 152"/>
                <a:gd name="T14" fmla="*/ 48 w 240"/>
                <a:gd name="T15" fmla="*/ 152 h 152"/>
                <a:gd name="T16" fmla="*/ 196 w 240"/>
                <a:gd name="T17" fmla="*/ 152 h 152"/>
                <a:gd name="T18" fmla="*/ 196 w 240"/>
                <a:gd name="T19" fmla="*/ 152 h 152"/>
                <a:gd name="T20" fmla="*/ 240 w 240"/>
                <a:gd name="T21" fmla="*/ 108 h 152"/>
                <a:gd name="T22" fmla="*/ 196 w 240"/>
                <a:gd name="T23" fmla="*/ 64 h 152"/>
                <a:gd name="T24" fmla="*/ 196 w 240"/>
                <a:gd name="T25" fmla="*/ 144 h 152"/>
                <a:gd name="T26" fmla="*/ 194 w 240"/>
                <a:gd name="T27" fmla="*/ 144 h 152"/>
                <a:gd name="T28" fmla="*/ 48 w 240"/>
                <a:gd name="T29" fmla="*/ 144 h 152"/>
                <a:gd name="T30" fmla="*/ 8 w 240"/>
                <a:gd name="T31" fmla="*/ 104 h 152"/>
                <a:gd name="T32" fmla="*/ 35 w 240"/>
                <a:gd name="T33" fmla="*/ 66 h 152"/>
                <a:gd name="T34" fmla="*/ 39 w 240"/>
                <a:gd name="T35" fmla="*/ 64 h 152"/>
                <a:gd name="T36" fmla="*/ 40 w 240"/>
                <a:gd name="T37" fmla="*/ 60 h 152"/>
                <a:gd name="T38" fmla="*/ 64 w 240"/>
                <a:gd name="T39" fmla="*/ 40 h 152"/>
                <a:gd name="T40" fmla="*/ 74 w 240"/>
                <a:gd name="T41" fmla="*/ 42 h 152"/>
                <a:gd name="T42" fmla="*/ 82 w 240"/>
                <a:gd name="T43" fmla="*/ 46 h 152"/>
                <a:gd name="T44" fmla="*/ 85 w 240"/>
                <a:gd name="T45" fmla="*/ 38 h 152"/>
                <a:gd name="T46" fmla="*/ 134 w 240"/>
                <a:gd name="T47" fmla="*/ 8 h 152"/>
                <a:gd name="T48" fmla="*/ 188 w 240"/>
                <a:gd name="T49" fmla="*/ 62 h 152"/>
                <a:gd name="T50" fmla="*/ 188 w 240"/>
                <a:gd name="T51" fmla="*/ 62 h 152"/>
                <a:gd name="T52" fmla="*/ 188 w 240"/>
                <a:gd name="T53" fmla="*/ 63 h 152"/>
                <a:gd name="T54" fmla="*/ 188 w 240"/>
                <a:gd name="T55" fmla="*/ 72 h 152"/>
                <a:gd name="T56" fmla="*/ 196 w 240"/>
                <a:gd name="T57" fmla="*/ 72 h 152"/>
                <a:gd name="T58" fmla="*/ 232 w 240"/>
                <a:gd name="T59" fmla="*/ 108 h 152"/>
                <a:gd name="T60" fmla="*/ 196 w 240"/>
                <a:gd name="T6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0" h="152">
                  <a:moveTo>
                    <a:pt x="196" y="64"/>
                  </a:moveTo>
                  <a:cubicBezTo>
                    <a:pt x="196" y="63"/>
                    <a:pt x="196" y="62"/>
                    <a:pt x="196" y="62"/>
                  </a:cubicBezTo>
                  <a:cubicBezTo>
                    <a:pt x="196" y="27"/>
                    <a:pt x="168" y="0"/>
                    <a:pt x="134" y="0"/>
                  </a:cubicBezTo>
                  <a:cubicBezTo>
                    <a:pt x="109" y="0"/>
                    <a:pt x="88" y="14"/>
                    <a:pt x="78" y="35"/>
                  </a:cubicBezTo>
                  <a:cubicBezTo>
                    <a:pt x="74" y="33"/>
                    <a:pt x="69" y="32"/>
                    <a:pt x="64" y="32"/>
                  </a:cubicBezTo>
                  <a:cubicBezTo>
                    <a:pt x="48" y="32"/>
                    <a:pt x="35" y="43"/>
                    <a:pt x="32" y="58"/>
                  </a:cubicBezTo>
                  <a:cubicBezTo>
                    <a:pt x="13" y="65"/>
                    <a:pt x="0" y="82"/>
                    <a:pt x="0" y="104"/>
                  </a:cubicBezTo>
                  <a:cubicBezTo>
                    <a:pt x="0" y="130"/>
                    <a:pt x="21" y="152"/>
                    <a:pt x="48" y="152"/>
                  </a:cubicBezTo>
                  <a:cubicBezTo>
                    <a:pt x="196" y="152"/>
                    <a:pt x="196" y="152"/>
                    <a:pt x="196" y="152"/>
                  </a:cubicBezTo>
                  <a:cubicBezTo>
                    <a:pt x="196" y="152"/>
                    <a:pt x="196" y="152"/>
                    <a:pt x="196" y="152"/>
                  </a:cubicBezTo>
                  <a:cubicBezTo>
                    <a:pt x="220" y="151"/>
                    <a:pt x="240" y="132"/>
                    <a:pt x="240" y="108"/>
                  </a:cubicBezTo>
                  <a:cubicBezTo>
                    <a:pt x="240" y="83"/>
                    <a:pt x="220" y="64"/>
                    <a:pt x="196" y="64"/>
                  </a:cubicBezTo>
                  <a:close/>
                  <a:moveTo>
                    <a:pt x="196" y="144"/>
                  </a:moveTo>
                  <a:cubicBezTo>
                    <a:pt x="194" y="144"/>
                    <a:pt x="194" y="144"/>
                    <a:pt x="194" y="144"/>
                  </a:cubicBezTo>
                  <a:cubicBezTo>
                    <a:pt x="48" y="144"/>
                    <a:pt x="48" y="144"/>
                    <a:pt x="48" y="144"/>
                  </a:cubicBezTo>
                  <a:cubicBezTo>
                    <a:pt x="26" y="144"/>
                    <a:pt x="8" y="126"/>
                    <a:pt x="8" y="104"/>
                  </a:cubicBezTo>
                  <a:cubicBezTo>
                    <a:pt x="8" y="86"/>
                    <a:pt x="18" y="71"/>
                    <a:pt x="35" y="66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2" y="48"/>
                    <a:pt x="52" y="40"/>
                    <a:pt x="64" y="40"/>
                  </a:cubicBezTo>
                  <a:cubicBezTo>
                    <a:pt x="67" y="40"/>
                    <a:pt x="71" y="40"/>
                    <a:pt x="74" y="42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94" y="20"/>
                    <a:pt x="113" y="8"/>
                    <a:pt x="134" y="8"/>
                  </a:cubicBezTo>
                  <a:cubicBezTo>
                    <a:pt x="164" y="8"/>
                    <a:pt x="188" y="32"/>
                    <a:pt x="188" y="62"/>
                  </a:cubicBezTo>
                  <a:cubicBezTo>
                    <a:pt x="188" y="62"/>
                    <a:pt x="188" y="62"/>
                    <a:pt x="188" y="62"/>
                  </a:cubicBezTo>
                  <a:cubicBezTo>
                    <a:pt x="188" y="63"/>
                    <a:pt x="188" y="63"/>
                    <a:pt x="188" y="63"/>
                  </a:cubicBezTo>
                  <a:cubicBezTo>
                    <a:pt x="188" y="72"/>
                    <a:pt x="188" y="72"/>
                    <a:pt x="188" y="72"/>
                  </a:cubicBezTo>
                  <a:cubicBezTo>
                    <a:pt x="196" y="72"/>
                    <a:pt x="196" y="72"/>
                    <a:pt x="196" y="72"/>
                  </a:cubicBezTo>
                  <a:cubicBezTo>
                    <a:pt x="215" y="72"/>
                    <a:pt x="232" y="88"/>
                    <a:pt x="232" y="108"/>
                  </a:cubicBezTo>
                  <a:cubicBezTo>
                    <a:pt x="232" y="127"/>
                    <a:pt x="216" y="143"/>
                    <a:pt x="196" y="14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8" name="Freeform 39"/>
            <p:cNvSpPr/>
            <p:nvPr>
              <p:custDataLst>
                <p:tags r:id="rId23"/>
              </p:custDataLst>
            </p:nvPr>
          </p:nvSpPr>
          <p:spPr bwMode="auto">
            <a:xfrm>
              <a:off x="2627313" y="5330825"/>
              <a:ext cx="269875" cy="315913"/>
            </a:xfrm>
            <a:custGeom>
              <a:avLst/>
              <a:gdLst>
                <a:gd name="T0" fmla="*/ 36 w 72"/>
                <a:gd name="T1" fmla="*/ 76 h 84"/>
                <a:gd name="T2" fmla="*/ 8 w 72"/>
                <a:gd name="T3" fmla="*/ 48 h 84"/>
                <a:gd name="T4" fmla="*/ 36 w 72"/>
                <a:gd name="T5" fmla="*/ 20 h 84"/>
                <a:gd name="T6" fmla="*/ 36 w 72"/>
                <a:gd name="T7" fmla="*/ 34 h 84"/>
                <a:gd name="T8" fmla="*/ 66 w 72"/>
                <a:gd name="T9" fmla="*/ 17 h 84"/>
                <a:gd name="T10" fmla="*/ 36 w 72"/>
                <a:gd name="T11" fmla="*/ 0 h 84"/>
                <a:gd name="T12" fmla="*/ 36 w 72"/>
                <a:gd name="T13" fmla="*/ 12 h 84"/>
                <a:gd name="T14" fmla="*/ 0 w 72"/>
                <a:gd name="T15" fmla="*/ 48 h 84"/>
                <a:gd name="T16" fmla="*/ 36 w 72"/>
                <a:gd name="T17" fmla="*/ 84 h 84"/>
                <a:gd name="T18" fmla="*/ 72 w 72"/>
                <a:gd name="T19" fmla="*/ 48 h 84"/>
                <a:gd name="T20" fmla="*/ 64 w 72"/>
                <a:gd name="T21" fmla="*/ 48 h 84"/>
                <a:gd name="T22" fmla="*/ 36 w 72"/>
                <a:gd name="T23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84">
                  <a:moveTo>
                    <a:pt x="36" y="76"/>
                  </a:moveTo>
                  <a:cubicBezTo>
                    <a:pt x="20" y="76"/>
                    <a:pt x="8" y="63"/>
                    <a:pt x="8" y="48"/>
                  </a:cubicBezTo>
                  <a:cubicBezTo>
                    <a:pt x="8" y="32"/>
                    <a:pt x="20" y="20"/>
                    <a:pt x="36" y="20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6" y="12"/>
                    <a:pt x="0" y="28"/>
                    <a:pt x="0" y="48"/>
                  </a:cubicBezTo>
                  <a:cubicBezTo>
                    <a:pt x="0" y="67"/>
                    <a:pt x="16" y="84"/>
                    <a:pt x="36" y="84"/>
                  </a:cubicBezTo>
                  <a:cubicBezTo>
                    <a:pt x="55" y="84"/>
                    <a:pt x="72" y="67"/>
                    <a:pt x="72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63"/>
                    <a:pt x="51" y="76"/>
                    <a:pt x="36" y="7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9" name="Freeform 56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5517601" y="4768728"/>
            <a:ext cx="552093" cy="547779"/>
          </a:xfrm>
          <a:custGeom>
            <a:avLst/>
            <a:gdLst>
              <a:gd name="T0" fmla="*/ 2147483646 w 185"/>
              <a:gd name="T1" fmla="*/ 2147483646 h 184"/>
              <a:gd name="T2" fmla="*/ 2147483646 w 185"/>
              <a:gd name="T3" fmla="*/ 0 h 184"/>
              <a:gd name="T4" fmla="*/ 2147483646 w 185"/>
              <a:gd name="T5" fmla="*/ 2147483646 h 184"/>
              <a:gd name="T6" fmla="*/ 2147483646 w 185"/>
              <a:gd name="T7" fmla="*/ 2147483646 h 184"/>
              <a:gd name="T8" fmla="*/ 2147483646 w 185"/>
              <a:gd name="T9" fmla="*/ 2147483646 h 184"/>
              <a:gd name="T10" fmla="*/ 0 w 185"/>
              <a:gd name="T11" fmla="*/ 2147483646 h 184"/>
              <a:gd name="T12" fmla="*/ 0 w 185"/>
              <a:gd name="T13" fmla="*/ 2147483646 h 184"/>
              <a:gd name="T14" fmla="*/ 2147483646 w 185"/>
              <a:gd name="T15" fmla="*/ 2147483646 h 184"/>
              <a:gd name="T16" fmla="*/ 2147483646 w 185"/>
              <a:gd name="T17" fmla="*/ 2147483646 h 184"/>
              <a:gd name="T18" fmla="*/ 2147483646 w 185"/>
              <a:gd name="T19" fmla="*/ 2147483646 h 184"/>
              <a:gd name="T20" fmla="*/ 2147483646 w 185"/>
              <a:gd name="T21" fmla="*/ 2147483646 h 184"/>
              <a:gd name="T22" fmla="*/ 2147483646 w 185"/>
              <a:gd name="T23" fmla="*/ 2147483646 h 184"/>
              <a:gd name="T24" fmla="*/ 2147483646 w 185"/>
              <a:gd name="T25" fmla="*/ 2147483646 h 184"/>
              <a:gd name="T26" fmla="*/ 2147483646 w 185"/>
              <a:gd name="T27" fmla="*/ 2147483646 h 184"/>
              <a:gd name="T28" fmla="*/ 2147483646 w 185"/>
              <a:gd name="T29" fmla="*/ 2147483646 h 184"/>
              <a:gd name="T30" fmla="*/ 2147483646 w 185"/>
              <a:gd name="T31" fmla="*/ 2147483646 h 184"/>
              <a:gd name="T32" fmla="*/ 2147483646 w 185"/>
              <a:gd name="T33" fmla="*/ 2147483646 h 184"/>
              <a:gd name="T34" fmla="*/ 2147483646 w 185"/>
              <a:gd name="T35" fmla="*/ 2147483646 h 184"/>
              <a:gd name="T36" fmla="*/ 2147483646 w 185"/>
              <a:gd name="T37" fmla="*/ 2147483646 h 184"/>
              <a:gd name="T38" fmla="*/ 2147483646 w 185"/>
              <a:gd name="T39" fmla="*/ 2147483646 h 184"/>
              <a:gd name="T40" fmla="*/ 2147483646 w 185"/>
              <a:gd name="T41" fmla="*/ 2147483646 h 184"/>
              <a:gd name="T42" fmla="*/ 2147483646 w 185"/>
              <a:gd name="T43" fmla="*/ 2147483646 h 184"/>
              <a:gd name="T44" fmla="*/ 2147483646 w 185"/>
              <a:gd name="T45" fmla="*/ 2147483646 h 184"/>
              <a:gd name="T46" fmla="*/ 2147483646 w 185"/>
              <a:gd name="T47" fmla="*/ 2147483646 h 184"/>
              <a:gd name="T48" fmla="*/ 2147483646 w 185"/>
              <a:gd name="T49" fmla="*/ 2147483646 h 184"/>
              <a:gd name="T50" fmla="*/ 2147483646 w 185"/>
              <a:gd name="T51" fmla="*/ 2147483646 h 184"/>
              <a:gd name="T52" fmla="*/ 2147483646 w 185"/>
              <a:gd name="T53" fmla="*/ 2147483646 h 184"/>
              <a:gd name="T54" fmla="*/ 2147483646 w 185"/>
              <a:gd name="T55" fmla="*/ 2147483646 h 184"/>
              <a:gd name="T56" fmla="*/ 2147483646 w 185"/>
              <a:gd name="T57" fmla="*/ 2147483646 h 184"/>
              <a:gd name="T58" fmla="*/ 2147483646 w 185"/>
              <a:gd name="T59" fmla="*/ 2147483646 h 184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185" h="184">
                <a:moveTo>
                  <a:pt x="181" y="3"/>
                </a:moveTo>
                <a:cubicBezTo>
                  <a:pt x="178" y="1"/>
                  <a:pt x="175" y="0"/>
                  <a:pt x="172" y="0"/>
                </a:cubicBezTo>
                <a:cubicBezTo>
                  <a:pt x="169" y="0"/>
                  <a:pt x="166" y="1"/>
                  <a:pt x="164" y="3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45" y="56"/>
                  <a:pt x="145" y="56"/>
                  <a:pt x="145" y="56"/>
                </a:cubicBezTo>
                <a:cubicBezTo>
                  <a:pt x="181" y="20"/>
                  <a:pt x="181" y="20"/>
                  <a:pt x="181" y="20"/>
                </a:cubicBezTo>
                <a:cubicBezTo>
                  <a:pt x="185" y="15"/>
                  <a:pt x="185" y="8"/>
                  <a:pt x="181" y="3"/>
                </a:cubicBezTo>
                <a:close/>
                <a:moveTo>
                  <a:pt x="144" y="176"/>
                </a:moveTo>
                <a:cubicBezTo>
                  <a:pt x="8" y="176"/>
                  <a:pt x="8" y="176"/>
                  <a:pt x="8" y="176"/>
                </a:cubicBezTo>
                <a:cubicBezTo>
                  <a:pt x="8" y="40"/>
                  <a:pt x="8" y="40"/>
                  <a:pt x="8" y="40"/>
                </a:cubicBezTo>
                <a:cubicBezTo>
                  <a:pt x="127" y="40"/>
                  <a:pt x="127" y="40"/>
                  <a:pt x="127" y="40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81" y="120"/>
                  <a:pt x="81" y="120"/>
                  <a:pt x="81" y="120"/>
                </a:cubicBezTo>
                <a:cubicBezTo>
                  <a:pt x="144" y="56"/>
                  <a:pt x="144" y="56"/>
                  <a:pt x="144" y="56"/>
                </a:cubicBezTo>
                <a:lnTo>
                  <a:pt x="144" y="176"/>
                </a:lnTo>
                <a:close/>
                <a:moveTo>
                  <a:pt x="175" y="14"/>
                </a:moveTo>
                <a:cubicBezTo>
                  <a:pt x="78" y="112"/>
                  <a:pt x="78" y="112"/>
                  <a:pt x="7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2" y="106"/>
                  <a:pt x="72" y="106"/>
                  <a:pt x="72" y="106"/>
                </a:cubicBezTo>
                <a:cubicBezTo>
                  <a:pt x="169" y="9"/>
                  <a:pt x="169" y="9"/>
                  <a:pt x="169" y="9"/>
                </a:cubicBezTo>
                <a:cubicBezTo>
                  <a:pt x="170" y="8"/>
                  <a:pt x="172" y="8"/>
                  <a:pt x="172" y="8"/>
                </a:cubicBezTo>
                <a:cubicBezTo>
                  <a:pt x="173" y="8"/>
                  <a:pt x="174" y="8"/>
                  <a:pt x="175" y="9"/>
                </a:cubicBezTo>
                <a:cubicBezTo>
                  <a:pt x="176" y="10"/>
                  <a:pt x="176" y="11"/>
                  <a:pt x="176" y="12"/>
                </a:cubicBezTo>
                <a:cubicBezTo>
                  <a:pt x="176" y="12"/>
                  <a:pt x="176" y="13"/>
                  <a:pt x="175" y="14"/>
                </a:cubicBezTo>
                <a:close/>
              </a:path>
            </a:pathLst>
          </a:custGeom>
          <a:solidFill>
            <a:srgbClr val="157E9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33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094905" y="2648777"/>
            <a:ext cx="547779" cy="478768"/>
          </a:xfrm>
          <a:custGeom>
            <a:avLst/>
            <a:gdLst>
              <a:gd name="T0" fmla="*/ 2147483646 w 454"/>
              <a:gd name="T1" fmla="*/ 0 h 398"/>
              <a:gd name="T2" fmla="*/ 0 w 454"/>
              <a:gd name="T3" fmla="*/ 0 h 398"/>
              <a:gd name="T4" fmla="*/ 0 w 454"/>
              <a:gd name="T5" fmla="*/ 2147483646 h 398"/>
              <a:gd name="T6" fmla="*/ 2147483646 w 454"/>
              <a:gd name="T7" fmla="*/ 2147483646 h 398"/>
              <a:gd name="T8" fmla="*/ 2147483646 w 454"/>
              <a:gd name="T9" fmla="*/ 2147483646 h 398"/>
              <a:gd name="T10" fmla="*/ 2147483646 w 454"/>
              <a:gd name="T11" fmla="*/ 2147483646 h 398"/>
              <a:gd name="T12" fmla="*/ 2147483646 w 454"/>
              <a:gd name="T13" fmla="*/ 2147483646 h 398"/>
              <a:gd name="T14" fmla="*/ 2147483646 w 454"/>
              <a:gd name="T15" fmla="*/ 2147483646 h 398"/>
              <a:gd name="T16" fmla="*/ 2147483646 w 454"/>
              <a:gd name="T17" fmla="*/ 0 h 398"/>
              <a:gd name="T18" fmla="*/ 2147483646 w 454"/>
              <a:gd name="T19" fmla="*/ 2147483646 h 398"/>
              <a:gd name="T20" fmla="*/ 2147483646 w 454"/>
              <a:gd name="T21" fmla="*/ 2147483646 h 398"/>
              <a:gd name="T22" fmla="*/ 2147483646 w 454"/>
              <a:gd name="T23" fmla="*/ 2147483646 h 398"/>
              <a:gd name="T24" fmla="*/ 2147483646 w 454"/>
              <a:gd name="T25" fmla="*/ 2147483646 h 398"/>
              <a:gd name="T26" fmla="*/ 2147483646 w 454"/>
              <a:gd name="T27" fmla="*/ 2147483646 h 398"/>
              <a:gd name="T28" fmla="*/ 2147483646 w 454"/>
              <a:gd name="T29" fmla="*/ 2147483646 h 398"/>
              <a:gd name="T30" fmla="*/ 2147483646 w 454"/>
              <a:gd name="T31" fmla="*/ 2147483646 h 398"/>
              <a:gd name="T32" fmla="*/ 2147483646 w 454"/>
              <a:gd name="T33" fmla="*/ 2147483646 h 398"/>
              <a:gd name="T34" fmla="*/ 2147483646 w 454"/>
              <a:gd name="T35" fmla="*/ 2147483646 h 398"/>
              <a:gd name="T36" fmla="*/ 2147483646 w 454"/>
              <a:gd name="T37" fmla="*/ 2147483646 h 398"/>
              <a:gd name="T38" fmla="*/ 2147483646 w 454"/>
              <a:gd name="T39" fmla="*/ 2147483646 h 398"/>
              <a:gd name="T40" fmla="*/ 2147483646 w 454"/>
              <a:gd name="T41" fmla="*/ 2147483646 h 39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454" h="398">
                <a:moveTo>
                  <a:pt x="454" y="0"/>
                </a:moveTo>
                <a:lnTo>
                  <a:pt x="0" y="0"/>
                </a:lnTo>
                <a:lnTo>
                  <a:pt x="0" y="285"/>
                </a:lnTo>
                <a:lnTo>
                  <a:pt x="156" y="285"/>
                </a:lnTo>
                <a:lnTo>
                  <a:pt x="57" y="398"/>
                </a:lnTo>
                <a:lnTo>
                  <a:pt x="397" y="398"/>
                </a:lnTo>
                <a:lnTo>
                  <a:pt x="300" y="285"/>
                </a:lnTo>
                <a:lnTo>
                  <a:pt x="454" y="285"/>
                </a:lnTo>
                <a:lnTo>
                  <a:pt x="454" y="0"/>
                </a:lnTo>
                <a:close/>
                <a:moveTo>
                  <a:pt x="99" y="379"/>
                </a:moveTo>
                <a:lnTo>
                  <a:pt x="227" y="228"/>
                </a:lnTo>
                <a:lnTo>
                  <a:pt x="357" y="379"/>
                </a:lnTo>
                <a:lnTo>
                  <a:pt x="99" y="379"/>
                </a:lnTo>
                <a:close/>
                <a:moveTo>
                  <a:pt x="435" y="266"/>
                </a:moveTo>
                <a:lnTo>
                  <a:pt x="284" y="266"/>
                </a:lnTo>
                <a:lnTo>
                  <a:pt x="227" y="199"/>
                </a:lnTo>
                <a:lnTo>
                  <a:pt x="170" y="266"/>
                </a:lnTo>
                <a:lnTo>
                  <a:pt x="19" y="266"/>
                </a:lnTo>
                <a:lnTo>
                  <a:pt x="19" y="19"/>
                </a:lnTo>
                <a:lnTo>
                  <a:pt x="435" y="19"/>
                </a:lnTo>
                <a:lnTo>
                  <a:pt x="435" y="266"/>
                </a:lnTo>
                <a:close/>
              </a:path>
            </a:pathLst>
          </a:custGeom>
          <a:solidFill>
            <a:srgbClr val="157E9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3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8267065" y="2493645"/>
            <a:ext cx="3265170" cy="942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用户说什么做什么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识别真需求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39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8240004" y="2062178"/>
            <a:ext cx="1712351" cy="51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AI</a:t>
            </a: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产品经理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13" name="矩形 40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532495" y="3724910"/>
            <a:ext cx="2731770" cy="417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个人努力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项目化交付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 42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8150860" y="5014595"/>
            <a:ext cx="2720975" cy="940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“AI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替我做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人机协同闭环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44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2058670" y="3768090"/>
            <a:ext cx="2134870" cy="940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从零散到系统，金字塔、MECE、SCQA框架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46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33730" y="5068570"/>
            <a:ext cx="3714750" cy="940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追求复杂模型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业务数据评测优先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矩形 48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308100" y="2557145"/>
            <a:ext cx="3040380" cy="940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把内容写全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让别人真正听懂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348480" y="252730"/>
            <a:ext cx="7842885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24" name="圆角矩形 123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126" name="圆角矩形 125"/>
          <p:cNvSpPr/>
          <p:nvPr/>
        </p:nvSpPr>
        <p:spPr>
          <a:xfrm rot="16200000" flipV="1">
            <a:off x="11456923" y="249610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Freeform 96"/>
          <p:cNvSpPr/>
          <p:nvPr/>
        </p:nvSpPr>
        <p:spPr bwMode="auto">
          <a:xfrm>
            <a:off x="1155876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33044" y="125838"/>
            <a:ext cx="356108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 </a:t>
            </a:r>
            <a:r>
              <a:rPr lang="zh-CN" altLang="en-US" sz="28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学习心得与认知转变</a:t>
            </a:r>
            <a:endParaRPr lang="zh-CN" altLang="en-US" sz="28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29" name="矩形 39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526880" y="3327315"/>
            <a:ext cx="1712351" cy="51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项目经理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30" name="矩形 39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150825" y="4609933"/>
            <a:ext cx="1712351" cy="51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AI</a:t>
            </a: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开发</a:t>
            </a: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工程师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31" name="矩形 39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3145199" y="4686408"/>
            <a:ext cx="1712351" cy="51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数据挖掘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32" name="矩形 39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2708275" y="3409950"/>
            <a:ext cx="1485900" cy="51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结构化</a:t>
            </a: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表达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33" name="矩形 39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041972" y="2123008"/>
            <a:ext cx="1712351" cy="51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写好</a:t>
            </a:r>
            <a:r>
              <a:rPr lang="zh-CN" altLang="en-US" sz="2000" dirty="0">
                <a:solidFill>
                  <a:srgbClr val="157E9F"/>
                </a:solidFill>
                <a:latin typeface="方正清刻本悦宋简体" pitchFamily="2" charset="-122"/>
                <a:ea typeface="方正清刻本悦宋简体" pitchFamily="2" charset="-122"/>
              </a:rPr>
              <a:t>简历</a:t>
            </a:r>
            <a:endParaRPr lang="zh-CN" altLang="en-US" sz="2000" dirty="0">
              <a:solidFill>
                <a:srgbClr val="157E9F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515944" y="310496"/>
            <a:ext cx="2467610" cy="367030"/>
          </a:xfrm>
          <a:prstGeom prst="rect">
            <a:avLst/>
          </a:prstGeom>
        </p:spPr>
        <p:txBody>
          <a:bodyPr wrap="none" lIns="91431" tIns="45715" rIns="91431" bIns="45715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lang="zh-CN" sz="1800">
                <a:solidFill>
                  <a:schemeClr val="bg1"/>
                </a:solidFill>
                <a:sym typeface="+mn-ea"/>
              </a:rPr>
              <a:t>六</a:t>
            </a:r>
            <a:r>
              <a:rPr altLang="zh-CN" sz="1800">
                <a:solidFill>
                  <a:schemeClr val="bg1"/>
                </a:solidFill>
                <a:sym typeface="+mn-ea"/>
              </a:rPr>
              <a:t>个核心认知转变</a:t>
            </a:r>
            <a:r>
              <a:rPr lang="zh-CN" sz="1800">
                <a:solidFill>
                  <a:schemeClr val="bg1"/>
                </a:solidFill>
                <a:sym typeface="+mn-ea"/>
              </a:rPr>
              <a:t>总</a:t>
            </a:r>
            <a:r>
              <a:rPr altLang="zh-CN" sz="1800">
                <a:solidFill>
                  <a:schemeClr val="bg1"/>
                </a:solidFill>
                <a:sym typeface="+mn-ea"/>
              </a:rPr>
              <a:t>结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884555"/>
            <a:ext cx="640080" cy="597344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42135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圆角矩形 19"/>
          <p:cNvSpPr/>
          <p:nvPr/>
        </p:nvSpPr>
        <p:spPr>
          <a:xfrm>
            <a:off x="4862428" y="2884549"/>
            <a:ext cx="2258901" cy="2236599"/>
          </a:xfrm>
          <a:prstGeom prst="ellipse">
            <a:avLst/>
          </a:prstGeom>
          <a:solidFill>
            <a:srgbClr val="157E9F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75" name="组合 1774"/>
          <p:cNvGrpSpPr/>
          <p:nvPr/>
        </p:nvGrpSpPr>
        <p:grpSpPr>
          <a:xfrm>
            <a:off x="5042522" y="2594997"/>
            <a:ext cx="2418357" cy="2515236"/>
            <a:chOff x="4721608" y="1835707"/>
            <a:chExt cx="1879634" cy="1954931"/>
          </a:xfrm>
          <a:solidFill>
            <a:srgbClr val="157E9F">
              <a:alpha val="39000"/>
            </a:srgbClr>
          </a:solidFill>
        </p:grpSpPr>
        <p:sp>
          <p:nvSpPr>
            <p:cNvPr id="1776" name="圆角矩形 19"/>
            <p:cNvSpPr/>
            <p:nvPr/>
          </p:nvSpPr>
          <p:spPr>
            <a:xfrm>
              <a:off x="4721608" y="1835707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7" name="圆角矩形 20"/>
            <p:cNvSpPr/>
            <p:nvPr/>
          </p:nvSpPr>
          <p:spPr>
            <a:xfrm>
              <a:off x="4845543" y="2052274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78" name="矩形 1777"/>
          <p:cNvSpPr/>
          <p:nvPr/>
        </p:nvSpPr>
        <p:spPr>
          <a:xfrm>
            <a:off x="5397735" y="3023632"/>
            <a:ext cx="1527355" cy="169037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000" dirty="0">
                <a:solidFill>
                  <a:schemeClr val="bg1"/>
                </a:solidFill>
                <a:latin typeface="方正清刻本悦宋简体" pitchFamily="2" charset="-122"/>
                <a:ea typeface="方正清刻本悦宋简体" pitchFamily="2" charset="-122"/>
                <a:sym typeface="+mn-ea"/>
              </a:rPr>
              <a:t>STAR</a:t>
            </a:r>
            <a:r>
              <a:rPr lang="zh-CN" altLang="en-US" sz="4000" dirty="0">
                <a:solidFill>
                  <a:schemeClr val="bg1"/>
                </a:solidFill>
                <a:latin typeface="方正清刻本悦宋简体" pitchFamily="2" charset="-122"/>
                <a:ea typeface="方正清刻本悦宋简体" pitchFamily="2" charset="-122"/>
                <a:sym typeface="+mn-ea"/>
              </a:rPr>
              <a:t>法则</a:t>
            </a:r>
            <a:endParaRPr lang="en-US" altLang="zh-CN" sz="4000" dirty="0">
              <a:solidFill>
                <a:schemeClr val="bg1"/>
              </a:solidFill>
              <a:latin typeface="方正清刻本悦宋简体" pitchFamily="2" charset="-122"/>
              <a:ea typeface="方正清刻本悦宋简体" pitchFamily="2" charset="-122"/>
            </a:endParaRPr>
          </a:p>
        </p:txBody>
      </p:sp>
      <p:sp>
        <p:nvSpPr>
          <p:cNvPr id="1779" name="圆角矩形 1778"/>
          <p:cNvSpPr/>
          <p:nvPr/>
        </p:nvSpPr>
        <p:spPr>
          <a:xfrm rot="10800000" flipV="1">
            <a:off x="784863" y="1905818"/>
            <a:ext cx="272223" cy="276062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1209206" y="1804272"/>
            <a:ext cx="1915795" cy="449580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S-Situation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情境</a:t>
            </a:r>
            <a:endParaRPr lang="zh-CN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81" name="直接连接符 1780"/>
          <p:cNvCxnSpPr/>
          <p:nvPr/>
        </p:nvCxnSpPr>
        <p:spPr>
          <a:xfrm>
            <a:off x="1297572" y="2242826"/>
            <a:ext cx="2229351" cy="14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2" name="矩形 1781"/>
          <p:cNvSpPr/>
          <p:nvPr/>
        </p:nvSpPr>
        <p:spPr>
          <a:xfrm>
            <a:off x="1213700" y="2320709"/>
            <a:ext cx="3532511" cy="12903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交代事件发生背景，简明说明所处环境、客观条件、原有困境与既定目标，只提炼关键客观前提，不掺杂个人行动与结果。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3" name="圆角矩形 1782"/>
          <p:cNvSpPr/>
          <p:nvPr/>
        </p:nvSpPr>
        <p:spPr>
          <a:xfrm rot="10800000" flipV="1">
            <a:off x="784861" y="4044575"/>
            <a:ext cx="272223" cy="276062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209203" y="3929059"/>
            <a:ext cx="1674495" cy="449580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A-Action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行动</a:t>
            </a:r>
            <a:endParaRPr lang="zh-CN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85" name="直接连接符 1784"/>
          <p:cNvCxnSpPr/>
          <p:nvPr/>
        </p:nvCxnSpPr>
        <p:spPr>
          <a:xfrm>
            <a:off x="1297569" y="4381581"/>
            <a:ext cx="2229351" cy="14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6" name="矩形 1785"/>
          <p:cNvSpPr/>
          <p:nvPr/>
        </p:nvSpPr>
        <p:spPr>
          <a:xfrm>
            <a:off x="1213697" y="4459463"/>
            <a:ext cx="3532512" cy="989965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罗列自己落地的具体步骤、方法、主动举措，突出主观执行力与差异化做法，详细说明全程操作，拒绝笼统空话。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7" name="圆角矩形 1786"/>
          <p:cNvSpPr/>
          <p:nvPr/>
        </p:nvSpPr>
        <p:spPr>
          <a:xfrm rot="10800000" flipV="1">
            <a:off x="11083343" y="1920746"/>
            <a:ext cx="272223" cy="276062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8" name="文本框 1787"/>
          <p:cNvSpPr txBox="1"/>
          <p:nvPr/>
        </p:nvSpPr>
        <p:spPr>
          <a:xfrm>
            <a:off x="9567675" y="1797287"/>
            <a:ext cx="1397635" cy="449580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T-Task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endParaRPr lang="zh-CN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89" name="直接连接符 1788"/>
          <p:cNvCxnSpPr/>
          <p:nvPr/>
        </p:nvCxnSpPr>
        <p:spPr>
          <a:xfrm>
            <a:off x="8626942" y="2242826"/>
            <a:ext cx="2229351" cy="14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0" name="矩形 1789"/>
          <p:cNvSpPr/>
          <p:nvPr/>
        </p:nvSpPr>
        <p:spPr>
          <a:xfrm>
            <a:off x="7577103" y="2320709"/>
            <a:ext cx="3532511" cy="989965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明确自身承接的岗位职责、专项任务，厘清个人需要解决的具体难题、量化目标，区分团队任务与个人专属职责边界。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1" name="圆角矩形 1790"/>
          <p:cNvSpPr/>
          <p:nvPr/>
        </p:nvSpPr>
        <p:spPr>
          <a:xfrm rot="10800000" flipV="1">
            <a:off x="11083342" y="4059501"/>
            <a:ext cx="272223" cy="276062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2" name="文本框 1791"/>
          <p:cNvSpPr txBox="1"/>
          <p:nvPr/>
        </p:nvSpPr>
        <p:spPr>
          <a:xfrm>
            <a:off x="9236402" y="3952553"/>
            <a:ext cx="1619885" cy="449580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R-Result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93" name="直接连接符 1792"/>
          <p:cNvCxnSpPr/>
          <p:nvPr/>
        </p:nvCxnSpPr>
        <p:spPr>
          <a:xfrm>
            <a:off x="8626942" y="4381581"/>
            <a:ext cx="2229351" cy="14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4" name="矩形 1793"/>
          <p:cNvSpPr/>
          <p:nvPr/>
        </p:nvSpPr>
        <p:spPr>
          <a:xfrm>
            <a:off x="7577103" y="4459463"/>
            <a:ext cx="3532511" cy="989965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展示最终量化成果、数据变化、能力提升与价值收益，复盘收获，用数字佐证成效，顺带提炼经验与成长总结。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43805" y="252730"/>
            <a:ext cx="7147560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 rot="16200000" flipV="1">
            <a:off x="11456923" y="249610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96"/>
          <p:cNvSpPr/>
          <p:nvPr/>
        </p:nvSpPr>
        <p:spPr bwMode="auto">
          <a:xfrm>
            <a:off x="1155876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3044" y="298558"/>
            <a:ext cx="375793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认知转变</a:t>
            </a:r>
            <a:r>
              <a:rPr lang="zh-CN">
                <a:sym typeface="+mn-ea"/>
              </a:rPr>
              <a:t>一</a:t>
            </a:r>
            <a:r>
              <a:rPr altLang="zh-CN">
                <a:sym typeface="+mn-ea"/>
              </a:rPr>
              <a:t>：</a:t>
            </a:r>
            <a:r>
              <a:rPr lang="zh-CN">
                <a:sym typeface="+mn-ea"/>
              </a:rPr>
              <a:t>写好简历</a:t>
            </a:r>
            <a:endParaRPr 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05730" y="277495"/>
            <a:ext cx="413321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从</a:t>
            </a:r>
            <a:r>
              <a:rPr lang="en-US" alt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把内容写全</a:t>
            </a:r>
            <a:r>
              <a:rPr lang="en-US" alt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到</a:t>
            </a:r>
            <a:r>
              <a:rPr lang="en-US" alt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让别人真正听懂</a:t>
            </a:r>
            <a:r>
              <a:rPr lang="en-US" altLang="zh-CN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”</a:t>
            </a:r>
            <a:endParaRPr lang="en-US" altLang="zh-CN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57580"/>
            <a:ext cx="640080" cy="5763260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t>思特奇登顶计划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6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过去</a:t>
            </a:r>
            <a:endParaRPr altLang="zh-CN" sz="2000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1306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93333"/>
                </a:solidFill>
                <a:latin typeface="微软雅黑" panose="020B0503020204020204" charset="-122"/>
              </a:defRPr>
            </a:pPr>
            <a:r>
              <a:rPr sz="1600"/>
              <a:t>✖ 思维零散，无逻辑结构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93333"/>
                </a:solidFill>
                <a:latin typeface="微软雅黑" panose="020B0503020204020204" charset="-122"/>
              </a:defRPr>
            </a:pPr>
            <a:r>
              <a:rPr sz="1600"/>
              <a:t>✖ 信息堆砌，缺乏重点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93333"/>
                </a:solidFill>
                <a:latin typeface="微软雅黑" panose="020B0503020204020204" charset="-122"/>
              </a:defRPr>
            </a:pPr>
            <a:r>
              <a:rPr sz="1600"/>
              <a:t>✖ 汇报漫无目的，难以说服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93333"/>
                </a:solidFill>
                <a:latin typeface="微软雅黑" panose="020B0503020204020204" charset="-122"/>
              </a:defRPr>
            </a:pPr>
            <a:r>
              <a:rPr sz="1600"/>
              <a:t>✖ “写完了”就等于“交差了”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现在</a:t>
            </a:r>
            <a:endParaRPr altLang="zh-CN" sz="2000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306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57E3F"/>
                </a:solidFill>
                <a:latin typeface="微软雅黑" panose="020B0503020204020204" charset="-122"/>
              </a:defRPr>
            </a:pPr>
            <a:r>
              <a:rPr sz="1600"/>
              <a:t>✔ 金字塔原理：结论先行、以上统下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57E3F"/>
                </a:solidFill>
                <a:latin typeface="微软雅黑" panose="020B0503020204020204" charset="-122"/>
              </a:defRPr>
            </a:pPr>
            <a:r>
              <a:rPr sz="1600"/>
              <a:t>✔ MECE原则：相互独立、完全穷尽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57E3F"/>
                </a:solidFill>
                <a:latin typeface="微软雅黑" panose="020B0503020204020204" charset="-122"/>
              </a:defRPr>
            </a:pPr>
            <a:r>
              <a:rPr sz="1600"/>
              <a:t>✔ SCQA框架：情境→冲突→问题→答案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57E3F"/>
                </a:solidFill>
                <a:latin typeface="微软雅黑" panose="020B0503020204020204" charset="-122"/>
              </a:defRPr>
            </a:pPr>
            <a:r>
              <a:rPr sz="1600"/>
              <a:t>✔ “汇报是为了影响决策，不是为了交作业”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400"/>
              <a:t>方法框架</a:t>
            </a:r>
            <a:endParaRPr altLang="zh-CN" sz="2400"/>
          </a:p>
        </p:txBody>
      </p:sp>
      <p:sp>
        <p:nvSpPr>
          <p:cNvPr id="14" name="Rounded Rectangle 13"/>
          <p:cNvSpPr/>
          <p:nvPr/>
        </p:nvSpPr>
        <p:spPr>
          <a:xfrm>
            <a:off x="6675120" y="2926080"/>
            <a:ext cx="4572000" cy="5943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>
                <a:latin typeface="微软雅黑" panose="020B0503020204020204" charset="-122"/>
                <a:ea typeface="微软雅黑" panose="020B0503020204020204" charset="-122"/>
              </a:rPr>
              <a:t>结论先行</a:t>
            </a:r>
            <a:endParaRPr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0" y="3703320"/>
            <a:ext cx="4206240" cy="594360"/>
          </a:xfrm>
          <a:prstGeom prst="roundRect">
            <a:avLst/>
          </a:prstGeom>
          <a:solidFill>
            <a:srgbClr val="2B9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420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以上统下 · 归纳分组</a:t>
            </a:r>
            <a:endParaRPr altLang="zh-CN" sz="2000"/>
          </a:p>
        </p:txBody>
      </p:sp>
      <p:sp>
        <p:nvSpPr>
          <p:cNvPr id="18" name="Rounded Rectangle 17"/>
          <p:cNvSpPr/>
          <p:nvPr/>
        </p:nvSpPr>
        <p:spPr>
          <a:xfrm>
            <a:off x="7040880" y="4480560"/>
            <a:ext cx="3840480" cy="594360"/>
          </a:xfrm>
          <a:prstGeom prst="roundRect">
            <a:avLst/>
          </a:prstGeom>
          <a:solidFill>
            <a:srgbClr val="4BB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480560"/>
            <a:ext cx="3840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MECE · SCQA </a:t>
            </a:r>
            <a:r>
              <a:rPr altLang="zh-CN" sz="2000"/>
              <a:t>· 逻辑递进</a:t>
            </a:r>
            <a:endParaRPr altLang="zh-CN" sz="2000"/>
          </a:p>
        </p:txBody>
      </p:sp>
      <p:sp>
        <p:nvSpPr>
          <p:cNvPr id="1766" name="矩形 1765"/>
          <p:cNvSpPr/>
          <p:nvPr/>
        </p:nvSpPr>
        <p:spPr>
          <a:xfrm>
            <a:off x="4740910" y="252730"/>
            <a:ext cx="7450455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767" name="圆角矩形 176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1768" name="矩形 1767"/>
          <p:cNvSpPr/>
          <p:nvPr/>
        </p:nvSpPr>
        <p:spPr>
          <a:xfrm>
            <a:off x="4825365" y="310515"/>
            <a:ext cx="4644390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1800">
                <a:solidFill>
                  <a:schemeClr val="bg1"/>
                </a:solidFill>
                <a:sym typeface="+mn-ea"/>
              </a:rPr>
              <a:t>从“想到哪说到哪”到“金字塔+结论先行”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69" name="圆角矩形 176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1" name="矩形 1770"/>
          <p:cNvSpPr/>
          <p:nvPr/>
        </p:nvSpPr>
        <p:spPr>
          <a:xfrm>
            <a:off x="594309" y="249663"/>
            <a:ext cx="411543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认知转变</a:t>
            </a:r>
            <a:r>
              <a:rPr lang="zh-CN">
                <a:sym typeface="+mn-ea"/>
              </a:rPr>
              <a:t>二</a:t>
            </a:r>
            <a:r>
              <a:rPr altLang="zh-CN">
                <a:sym typeface="+mn-ea"/>
              </a:rPr>
              <a:t>：结构化表达</a:t>
            </a:r>
            <a:endParaRPr lang="en-US" altLang="zh-CN" sz="2800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54405"/>
            <a:ext cx="640080" cy="590359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</a:t>
            </a:r>
            <a:r>
              <a:t>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" y="233680"/>
            <a:ext cx="393128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认知转变</a:t>
            </a:r>
            <a:r>
              <a:rPr lang="zh-CN"/>
              <a:t>三</a:t>
            </a:r>
            <a:r>
              <a:rPr altLang="zh-CN"/>
              <a:t>：数据挖掘</a:t>
            </a:r>
            <a:endParaRPr altLang="zh-CN"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914400" y="2011680"/>
            <a:ext cx="196596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914400" y="20116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800"/>
              <a:t>环境规范</a:t>
            </a:r>
            <a:endParaRPr altLang="zh-CN" sz="1800"/>
          </a:p>
        </p:txBody>
      </p:sp>
      <p:sp>
        <p:nvSpPr>
          <p:cNvPr id="11" name="Right Arrow 10"/>
          <p:cNvSpPr/>
          <p:nvPr>
            <p:custDataLst>
              <p:tags r:id="rId3"/>
            </p:custDataLst>
          </p:nvPr>
        </p:nvSpPr>
        <p:spPr>
          <a:xfrm>
            <a:off x="2834640" y="2130552"/>
            <a:ext cx="32004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14400" y="2651760"/>
            <a:ext cx="1965960" cy="84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虚拟环境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依赖管理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文档化</a:t>
            </a:r>
            <a:endParaRPr sz="1400"/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3154680" y="2011680"/>
            <a:ext cx="196596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154680" y="20116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800"/>
              <a:t>数据探索</a:t>
            </a:r>
            <a:endParaRPr altLang="zh-CN" sz="1800"/>
          </a:p>
        </p:txBody>
      </p:sp>
      <p:sp>
        <p:nvSpPr>
          <p:cNvPr id="15" name="Right Arrow 14"/>
          <p:cNvSpPr/>
          <p:nvPr>
            <p:custDataLst>
              <p:tags r:id="rId7"/>
            </p:custDataLst>
          </p:nvPr>
        </p:nvSpPr>
        <p:spPr>
          <a:xfrm>
            <a:off x="5074920" y="2130552"/>
            <a:ext cx="32004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154680" y="2651760"/>
            <a:ext cx="1965960" cy="84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EDA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可视化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假设验证</a:t>
            </a:r>
            <a:endParaRPr sz="1400"/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5394960" y="2011680"/>
            <a:ext cx="196596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5394960" y="20116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800"/>
              <a:t>建模分析</a:t>
            </a:r>
            <a:endParaRPr altLang="zh-CN" sz="1800"/>
          </a:p>
        </p:txBody>
      </p:sp>
      <p:sp>
        <p:nvSpPr>
          <p:cNvPr id="19" name="Right Arrow 18"/>
          <p:cNvSpPr/>
          <p:nvPr>
            <p:custDataLst>
              <p:tags r:id="rId11"/>
            </p:custDataLst>
          </p:nvPr>
        </p:nvSpPr>
        <p:spPr>
          <a:xfrm>
            <a:off x="7315200" y="2130552"/>
            <a:ext cx="32004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5394960" y="2651760"/>
            <a:ext cx="1965960" cy="84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特征工程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模型选择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调参优化</a:t>
            </a:r>
            <a:endParaRPr sz="1400"/>
          </a:p>
        </p:txBody>
      </p:sp>
      <p:sp>
        <p:nvSpPr>
          <p:cNvPr id="21" name="Rounded Rectangle 20"/>
          <p:cNvSpPr/>
          <p:nvPr>
            <p:custDataLst>
              <p:tags r:id="rId13"/>
            </p:custDataLst>
          </p:nvPr>
        </p:nvSpPr>
        <p:spPr>
          <a:xfrm>
            <a:off x="7635240" y="2011680"/>
            <a:ext cx="196596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7635240" y="20116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800"/>
              <a:t>可视化</a:t>
            </a:r>
            <a:endParaRPr altLang="zh-CN" sz="1800"/>
          </a:p>
        </p:txBody>
      </p:sp>
      <p:sp>
        <p:nvSpPr>
          <p:cNvPr id="23" name="Right Arrow 22"/>
          <p:cNvSpPr/>
          <p:nvPr>
            <p:custDataLst>
              <p:tags r:id="rId15"/>
            </p:custDataLst>
          </p:nvPr>
        </p:nvSpPr>
        <p:spPr>
          <a:xfrm>
            <a:off x="9555480" y="2130552"/>
            <a:ext cx="32004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7635240" y="2651760"/>
            <a:ext cx="1965960" cy="84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图表设计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数据叙事</a:t>
            </a:r>
            <a:endParaRPr sz="14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400"/>
              <a:t>▸ 洞察发现</a:t>
            </a:r>
            <a:endParaRPr sz="1400"/>
          </a:p>
        </p:txBody>
      </p:sp>
      <p:sp>
        <p:nvSpPr>
          <p:cNvPr id="25" name="Rounded Rectangle 24"/>
          <p:cNvSpPr/>
          <p:nvPr>
            <p:custDataLst>
              <p:tags r:id="rId17"/>
            </p:custDataLst>
          </p:nvPr>
        </p:nvSpPr>
        <p:spPr>
          <a:xfrm>
            <a:off x="9875520" y="2011680"/>
            <a:ext cx="196596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9875520" y="20116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800"/>
              <a:t>报告输出</a:t>
            </a:r>
            <a:endParaRPr altLang="zh-CN" sz="1800"/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9875520" y="2651760"/>
            <a:ext cx="1965960" cy="93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▸ 结论驱动</a:t>
            </a:r>
            <a:endParaRPr sz="16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▸ 可复现性</a:t>
            </a:r>
            <a:endParaRPr sz="1600"/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▸ 业务建议</a:t>
            </a:r>
            <a:endParaRPr sz="1600"/>
          </a:p>
        </p:txBody>
      </p:sp>
      <p:sp>
        <p:nvSpPr>
          <p:cNvPr id="28" name="Rounded Rectangle 27"/>
          <p:cNvSpPr/>
          <p:nvPr/>
        </p:nvSpPr>
        <p:spPr>
          <a:xfrm>
            <a:off x="914400" y="4572000"/>
            <a:ext cx="10515600" cy="1934210"/>
          </a:xfrm>
          <a:prstGeom prst="roundRect">
            <a:avLst/>
          </a:prstGeom>
          <a:solidFill>
            <a:srgbClr val="F5F7FA"/>
          </a:solidFill>
          <a:ln>
            <a:solidFill>
              <a:srgbClr val="157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663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案例：天猫电商用户行为分析</a:t>
            </a:r>
            <a:endParaRPr altLang="zh-CN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00584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数据规模：实际天猫用户行为日志，遮掩后的真实数据，经过数据清洗、特征工程、模型训练实现用户行为预测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全流程规范：从环境搭建(Jupyter+venv)到数据清洗、特征工程、模型训练，形成完整可复现的数据挖掘流程</a:t>
            </a:r>
            <a:endParaRPr sz="1600"/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价值产出：不仅完成预测任务，更注重结果可视化与业务洞察的传递</a:t>
            </a:r>
            <a:endParaRPr sz="1600"/>
          </a:p>
        </p:txBody>
      </p:sp>
      <p:sp>
        <p:nvSpPr>
          <p:cNvPr id="1766" name="矩形 1765"/>
          <p:cNvSpPr/>
          <p:nvPr/>
        </p:nvSpPr>
        <p:spPr>
          <a:xfrm>
            <a:off x="4740910" y="252730"/>
            <a:ext cx="7450455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2" name="矩形 31"/>
          <p:cNvSpPr/>
          <p:nvPr/>
        </p:nvSpPr>
        <p:spPr>
          <a:xfrm>
            <a:off x="4825365" y="310515"/>
            <a:ext cx="4644390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1800">
                <a:solidFill>
                  <a:schemeClr val="bg1"/>
                </a:solidFill>
                <a:sym typeface="+mn-ea"/>
              </a:rPr>
              <a:t>从“随手着来”到“完整数据工作流”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7105"/>
            <a:ext cx="640080" cy="589089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/>
              <a:t>6</a:t>
            </a:r>
            <a:endParaRPr altLang="zh-CN"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907415" y="1273175"/>
            <a:ext cx="1920240" cy="28676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907415" y="1273175"/>
            <a:ext cx="1920240" cy="630555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07415" y="1273175"/>
            <a:ext cx="1920240" cy="630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用户透镜</a:t>
            </a:r>
            <a:endParaRPr altLang="zh-CN" sz="2000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044575" y="1913255"/>
            <a:ext cx="1645920" cy="1430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谁在用？什么场景？</a:t>
            </a:r>
            <a:endParaRPr sz="1600"/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真实痛点是什么？</a:t>
            </a:r>
            <a:endParaRPr sz="1600"/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3101975" y="1273175"/>
            <a:ext cx="1920240" cy="28676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3101975" y="1273175"/>
            <a:ext cx="1920240" cy="630555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101975" y="1273175"/>
            <a:ext cx="1920240" cy="630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技术透镜</a:t>
            </a:r>
            <a:endParaRPr altLang="zh-CN" sz="2000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39135" y="1913255"/>
            <a:ext cx="1645920" cy="1121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技术可行性？</a:t>
            </a:r>
            <a:endParaRPr sz="1600"/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成本与效果权衡？</a:t>
            </a:r>
            <a:endParaRPr sz="1600"/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5296535" y="1273175"/>
            <a:ext cx="1920240" cy="28676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0"/>
            </p:custDataLst>
          </p:nvPr>
        </p:nvSpPr>
        <p:spPr>
          <a:xfrm>
            <a:off x="5296535" y="1273175"/>
            <a:ext cx="1920240" cy="630555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5296535" y="1273175"/>
            <a:ext cx="1920240" cy="630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商业透镜</a:t>
            </a:r>
            <a:endParaRPr altLang="zh-CN" sz="2000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5433695" y="1913255"/>
            <a:ext cx="1645920" cy="812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商业价值？</a:t>
            </a:r>
            <a:endParaRPr sz="1600"/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ROI是否成立？</a:t>
            </a:r>
            <a:endParaRPr sz="1600"/>
          </a:p>
        </p:txBody>
      </p:sp>
      <p:sp>
        <p:nvSpPr>
          <p:cNvPr id="21" name="Rounded Rectangle 20"/>
          <p:cNvSpPr/>
          <p:nvPr>
            <p:custDataLst>
              <p:tags r:id="rId13"/>
            </p:custDataLst>
          </p:nvPr>
        </p:nvSpPr>
        <p:spPr>
          <a:xfrm>
            <a:off x="7491095" y="1273175"/>
            <a:ext cx="1920240" cy="28676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>
            <p:custDataLst>
              <p:tags r:id="rId14"/>
            </p:custDataLst>
          </p:nvPr>
        </p:nvSpPr>
        <p:spPr>
          <a:xfrm>
            <a:off x="7491095" y="1273175"/>
            <a:ext cx="1920240" cy="630555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7491095" y="1273175"/>
            <a:ext cx="1920240" cy="630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伦理透镜</a:t>
            </a:r>
            <a:endParaRPr altLang="zh-CN" sz="2000"/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7628255" y="1913255"/>
            <a:ext cx="1645920" cy="1121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数据隐私？</a:t>
            </a:r>
            <a:endParaRPr sz="1600"/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公平性？风险控制？</a:t>
            </a:r>
            <a:endParaRPr sz="1600"/>
          </a:p>
        </p:txBody>
      </p:sp>
      <p:sp>
        <p:nvSpPr>
          <p:cNvPr id="25" name="Rounded Rectangle 24"/>
          <p:cNvSpPr/>
          <p:nvPr>
            <p:custDataLst>
              <p:tags r:id="rId17"/>
            </p:custDataLst>
          </p:nvPr>
        </p:nvSpPr>
        <p:spPr>
          <a:xfrm>
            <a:off x="9685655" y="1273175"/>
            <a:ext cx="1920240" cy="28676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18"/>
            </p:custDataLst>
          </p:nvPr>
        </p:nvSpPr>
        <p:spPr>
          <a:xfrm>
            <a:off x="9685655" y="1273175"/>
            <a:ext cx="1920240" cy="630555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9685655" y="1273175"/>
            <a:ext cx="1920240" cy="630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体验透镜</a:t>
            </a:r>
            <a:endParaRPr altLang="zh-CN" sz="2000"/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9822815" y="1913255"/>
            <a:ext cx="1645920" cy="812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交互设计？</a:t>
            </a:r>
            <a:endParaRPr sz="1600"/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• 用户满意度？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914400" y="4474210"/>
            <a:ext cx="10515600" cy="42799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400"/>
              <a:t>核心认知：</a:t>
            </a:r>
            <a:endParaRPr altLang="zh-CN" sz="2400"/>
          </a:p>
        </p:txBody>
      </p:sp>
      <p:sp>
        <p:nvSpPr>
          <p:cNvPr id="30" name="TextBox 29"/>
          <p:cNvSpPr txBox="1"/>
          <p:nvPr/>
        </p:nvSpPr>
        <p:spPr>
          <a:xfrm>
            <a:off x="914400" y="5031740"/>
            <a:ext cx="1051560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✔ AI产品的核心是“真需求”，而非“真技术”——必须用五透镜多维度验证</a:t>
            </a:r>
            <a:endParaRPr sz="18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✔ 需求溯源：“为什么要做”比“怎么做”更重要，每个功能都要回答“解决了谁的什么问题”</a:t>
            </a:r>
            <a:endParaRPr sz="180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✔ 场景设计：从用户旅程出发，提前想象AI交互的失败模式，做好容错设计</a:t>
            </a:r>
            <a:endParaRPr sz="1800"/>
          </a:p>
        </p:txBody>
      </p:sp>
      <p:sp>
        <p:nvSpPr>
          <p:cNvPr id="31" name="TextBox 6"/>
          <p:cNvSpPr txBox="1"/>
          <p:nvPr/>
        </p:nvSpPr>
        <p:spPr>
          <a:xfrm>
            <a:off x="643890" y="233680"/>
            <a:ext cx="4248150" cy="50355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认知转变</a:t>
            </a:r>
            <a:r>
              <a:rPr lang="zh-CN">
                <a:sym typeface="+mn-ea"/>
              </a:rPr>
              <a:t>四</a:t>
            </a:r>
            <a:r>
              <a:rPr altLang="zh-CN">
                <a:sym typeface="+mn-ea"/>
              </a:rPr>
              <a:t>：AI产品经理</a:t>
            </a:r>
            <a:endParaRPr altLang="zh-CN"/>
          </a:p>
        </p:txBody>
      </p:sp>
      <p:sp>
        <p:nvSpPr>
          <p:cNvPr id="1766" name="矩形 1765"/>
          <p:cNvSpPr/>
          <p:nvPr/>
        </p:nvSpPr>
        <p:spPr>
          <a:xfrm>
            <a:off x="5304155" y="252730"/>
            <a:ext cx="6887210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3" name="矩形 32"/>
          <p:cNvSpPr/>
          <p:nvPr/>
        </p:nvSpPr>
        <p:spPr>
          <a:xfrm>
            <a:off x="5271135" y="310515"/>
            <a:ext cx="5064125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“</a:t>
            </a:r>
            <a:r>
              <a:rPr lang="zh-CN" altLang="en-US" sz="1800">
                <a:solidFill>
                  <a:schemeClr val="bg1"/>
                </a:solidFill>
                <a:sym typeface="+mn-ea"/>
              </a:rPr>
              <a:t>不是技术能做什么，而是用户真正需要什么</a:t>
            </a:r>
            <a:r>
              <a:rPr lang="en-US" altLang="zh-CN" sz="1800">
                <a:solidFill>
                  <a:schemeClr val="bg1"/>
                </a:solidFill>
                <a:sym typeface="+mn-ea"/>
              </a:rPr>
              <a:t>”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42035"/>
            <a:ext cx="640080" cy="581596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>
                <a:sym typeface="+mn-ea"/>
              </a:rPr>
              <a:t>思特奇登顶计划</a:t>
            </a:r>
            <a:endParaRPr sz="2000"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/>
              <a:t>7</a:t>
            </a:r>
            <a:endParaRPr altLang="zh-CN"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892175" y="1461135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1349375" y="1442847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实验设计</a:t>
            </a:r>
            <a:endParaRPr altLang="zh-CN" sz="2000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3178175" y="1442847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对照组、A/B测试、变量控制</a:t>
            </a:r>
            <a:endParaRPr altLang="zh-CN" sz="1600"/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892175" y="2593213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1349375" y="2574925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指标体系</a:t>
            </a:r>
            <a:endParaRPr altLang="zh-CN" sz="2000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178175" y="2574925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业务指标、技术指标、体验指标</a:t>
            </a:r>
            <a:endParaRPr altLang="zh-CN" sz="1600"/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892175" y="3781171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349375" y="3762883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反例验证</a:t>
            </a:r>
            <a:endParaRPr altLang="zh-CN" sz="2000"/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178175" y="3762883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“如果我错了，什么能证明我错了？”</a:t>
            </a:r>
            <a:endParaRPr altLang="zh-CN" sz="1600"/>
          </a:p>
        </p:txBody>
      </p:sp>
      <p:sp>
        <p:nvSpPr>
          <p:cNvPr id="18" name="Rounded Rectangle 17"/>
          <p:cNvSpPr/>
          <p:nvPr>
            <p:custDataLst>
              <p:tags r:id="rId10"/>
            </p:custDataLst>
          </p:nvPr>
        </p:nvSpPr>
        <p:spPr>
          <a:xfrm>
            <a:off x="892175" y="4724654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1349375" y="4706366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持续迭代</a:t>
            </a:r>
            <a:endParaRPr altLang="zh-CN" sz="2000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3178175" y="470636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基于数据反馈持续优化</a:t>
            </a:r>
            <a:endParaRPr altLang="zh-CN" sz="1600"/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378575" y="1461135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6835775" y="1442847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风险前置</a:t>
            </a:r>
            <a:endParaRPr altLang="zh-CN" sz="2000"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8664575" y="1442847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提前识别、评估、应对，而非事后救火</a:t>
            </a:r>
            <a:endParaRPr altLang="zh-CN" sz="1600"/>
          </a:p>
        </p:txBody>
      </p:sp>
      <p:sp>
        <p:nvSpPr>
          <p:cNvPr id="25" name="Rounded Rectangle 24"/>
          <p:cNvSpPr/>
          <p:nvPr>
            <p:custDataLst>
              <p:tags r:id="rId16"/>
            </p:custDataLst>
          </p:nvPr>
        </p:nvSpPr>
        <p:spPr>
          <a:xfrm>
            <a:off x="6378575" y="2593213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7"/>
            </p:custDataLst>
          </p:nvPr>
        </p:nvSpPr>
        <p:spPr>
          <a:xfrm>
            <a:off x="6835775" y="2574925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质量闭环</a:t>
            </a:r>
            <a:endParaRPr altLang="zh-CN" sz="2000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8664575" y="2574925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计划→执行→检查→改进(PDCA)</a:t>
            </a:r>
            <a:endParaRPr altLang="zh-CN" sz="1600"/>
          </a:p>
        </p:txBody>
      </p:sp>
      <p:sp>
        <p:nvSpPr>
          <p:cNvPr id="28" name="Rounded Rectangle 27"/>
          <p:cNvSpPr/>
          <p:nvPr>
            <p:custDataLst>
              <p:tags r:id="rId19"/>
            </p:custDataLst>
          </p:nvPr>
        </p:nvSpPr>
        <p:spPr>
          <a:xfrm>
            <a:off x="6378575" y="3781171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20"/>
            </p:custDataLst>
          </p:nvPr>
        </p:nvSpPr>
        <p:spPr>
          <a:xfrm>
            <a:off x="6835775" y="3762883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干系人协同</a:t>
            </a:r>
            <a:endParaRPr altLang="zh-CN" sz="2000"/>
          </a:p>
        </p:txBody>
      </p:sp>
      <p:sp>
        <p:nvSpPr>
          <p:cNvPr id="30" name="TextBox 29"/>
          <p:cNvSpPr txBox="1"/>
          <p:nvPr>
            <p:custDataLst>
              <p:tags r:id="rId21"/>
            </p:custDataLst>
          </p:nvPr>
        </p:nvSpPr>
        <p:spPr>
          <a:xfrm>
            <a:off x="8664575" y="3762883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明确期望、定期同步、及时升级</a:t>
            </a:r>
            <a:endParaRPr altLang="zh-CN" sz="1600"/>
          </a:p>
        </p:txBody>
      </p:sp>
      <p:sp>
        <p:nvSpPr>
          <p:cNvPr id="31" name="Rounded Rectangle 30"/>
          <p:cNvSpPr/>
          <p:nvPr>
            <p:custDataLst>
              <p:tags r:id="rId22"/>
            </p:custDataLst>
          </p:nvPr>
        </p:nvSpPr>
        <p:spPr>
          <a:xfrm>
            <a:off x="6335395" y="4696714"/>
            <a:ext cx="320040" cy="32004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23"/>
            </p:custDataLst>
          </p:nvPr>
        </p:nvSpPr>
        <p:spPr>
          <a:xfrm>
            <a:off x="6792595" y="4678426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目标拆解</a:t>
            </a:r>
            <a:endParaRPr altLang="zh-CN" sz="2000"/>
          </a:p>
        </p:txBody>
      </p:sp>
      <p:sp>
        <p:nvSpPr>
          <p:cNvPr id="33" name="TextBox 32"/>
          <p:cNvSpPr txBox="1"/>
          <p:nvPr>
            <p:custDataLst>
              <p:tags r:id="rId24"/>
            </p:custDataLst>
          </p:nvPr>
        </p:nvSpPr>
        <p:spPr>
          <a:xfrm>
            <a:off x="8621395" y="4678680"/>
            <a:ext cx="3200400" cy="58229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SMART原则：具体、可度量、可达成、相关、时限</a:t>
            </a:r>
            <a:endParaRPr altLang="zh-CN" sz="1600"/>
          </a:p>
        </p:txBody>
      </p:sp>
      <p:sp>
        <p:nvSpPr>
          <p:cNvPr id="34" name="Rounded Rectangle 33"/>
          <p:cNvSpPr/>
          <p:nvPr/>
        </p:nvSpPr>
        <p:spPr>
          <a:xfrm>
            <a:off x="914400" y="5692775"/>
            <a:ext cx="10515600" cy="855980"/>
          </a:xfrm>
          <a:prstGeom prst="roundRect">
            <a:avLst/>
          </a:prstGeom>
          <a:solidFill>
            <a:srgbClr val="F5F7FA"/>
          </a:solidFill>
          <a:ln>
            <a:solidFill>
              <a:srgbClr val="157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3470" y="5806440"/>
            <a:ext cx="10159365" cy="64008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defRPr sz="13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“技术人易陷：只关注‘做完了没有’，而不关注‘做对了没有’。验证+管理=保证‘做对的事’+‘把事做对’”</a:t>
            </a:r>
            <a:endParaRPr altLang="zh-CN" sz="2000"/>
          </a:p>
        </p:txBody>
      </p:sp>
      <p:sp>
        <p:nvSpPr>
          <p:cNvPr id="36" name="TextBox 6"/>
          <p:cNvSpPr txBox="1"/>
          <p:nvPr/>
        </p:nvSpPr>
        <p:spPr>
          <a:xfrm>
            <a:off x="643890" y="233680"/>
            <a:ext cx="4248150" cy="4965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认知转变五：项目管理</a:t>
            </a:r>
            <a:endParaRPr altLang="zh-CN"/>
          </a:p>
        </p:txBody>
      </p:sp>
      <p:sp>
        <p:nvSpPr>
          <p:cNvPr id="1766" name="矩形 1765"/>
          <p:cNvSpPr/>
          <p:nvPr/>
        </p:nvSpPr>
        <p:spPr>
          <a:xfrm>
            <a:off x="5304155" y="252730"/>
            <a:ext cx="6887210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8" name="矩形 37"/>
          <p:cNvSpPr/>
          <p:nvPr/>
        </p:nvSpPr>
        <p:spPr>
          <a:xfrm>
            <a:off x="5271135" y="310515"/>
            <a:ext cx="5064125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“</a:t>
            </a:r>
            <a:r>
              <a:rPr lang="zh-CN" altLang="en-US" sz="1800">
                <a:solidFill>
                  <a:schemeClr val="bg1"/>
                </a:solidFill>
                <a:sym typeface="+mn-ea"/>
              </a:rPr>
              <a:t>用数据说话</a:t>
            </a:r>
            <a:r>
              <a:rPr lang="en-US" altLang="zh-CN" sz="1800">
                <a:solidFill>
                  <a:schemeClr val="bg1"/>
                </a:solidFill>
                <a:sym typeface="+mn-ea"/>
              </a:rPr>
              <a:t>”,“</a:t>
            </a:r>
            <a:r>
              <a:rPr lang="zh-CN" altLang="en-US" sz="1800">
                <a:solidFill>
                  <a:schemeClr val="bg1"/>
                </a:solidFill>
                <a:sym typeface="+mn-ea"/>
              </a:rPr>
              <a:t>风险前置、质量闭环</a:t>
            </a:r>
            <a:r>
              <a:rPr lang="en-US" altLang="zh-CN" sz="1800">
                <a:solidFill>
                  <a:schemeClr val="bg1"/>
                </a:solidFill>
                <a:sym typeface="+mn-ea"/>
              </a:rPr>
              <a:t>”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Rounded Rectangle 33"/>
          <p:cNvSpPr/>
          <p:nvPr/>
        </p:nvSpPr>
        <p:spPr>
          <a:xfrm>
            <a:off x="914400" y="5692775"/>
            <a:ext cx="10515600" cy="855980"/>
          </a:xfrm>
          <a:prstGeom prst="roundRect">
            <a:avLst/>
          </a:prstGeom>
          <a:solidFill>
            <a:srgbClr val="F5F7FA"/>
          </a:solidFill>
          <a:ln>
            <a:solidFill>
              <a:srgbClr val="157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880745"/>
            <a:ext cx="640080" cy="597725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t>思特奇登顶计划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21440" y="137160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740" y="5800090"/>
            <a:ext cx="10137140" cy="63246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buClrTx/>
              <a:buSzTx/>
              <a:buFontTx/>
              <a:defRPr sz="13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坚持夯实编程基础，主动参与端到端交付，把每一次 AI 协作都沉淀为可复用的工程资产——这是 AI 时代开发工程师的核心竞争力。</a:t>
            </a:r>
            <a:endParaRPr altLang="zh-CN" sz="2000"/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011680"/>
            <a:ext cx="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6"/>
          <p:cNvSpPr txBox="1"/>
          <p:nvPr/>
        </p:nvSpPr>
        <p:spPr>
          <a:xfrm>
            <a:off x="643890" y="233680"/>
            <a:ext cx="4494530" cy="49657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认知转变</a:t>
            </a:r>
            <a:r>
              <a:rPr lang="zh-CN">
                <a:sym typeface="+mn-ea"/>
              </a:rPr>
              <a:t>六</a:t>
            </a:r>
            <a:r>
              <a:rPr altLang="zh-CN">
                <a:sym typeface="+mn-ea"/>
              </a:rPr>
              <a:t>：</a:t>
            </a:r>
            <a:r>
              <a:rPr lang="en-US">
                <a:sym typeface="+mn-ea"/>
              </a:rPr>
              <a:t>AI</a:t>
            </a:r>
            <a:r>
              <a:rPr lang="zh-CN" altLang="en-US">
                <a:sym typeface="+mn-ea"/>
              </a:rPr>
              <a:t>开发</a:t>
            </a:r>
            <a:r>
              <a:rPr lang="zh-CN" altLang="en-US">
                <a:sym typeface="+mn-ea"/>
              </a:rPr>
              <a:t>工程师</a:t>
            </a:r>
            <a:endParaRPr lang="zh-CN" altLang="en-US">
              <a:sym typeface="+mn-ea"/>
            </a:endParaRPr>
          </a:p>
        </p:txBody>
      </p:sp>
      <p:sp>
        <p:nvSpPr>
          <p:cNvPr id="1766" name="矩形 1765"/>
          <p:cNvSpPr/>
          <p:nvPr/>
        </p:nvSpPr>
        <p:spPr>
          <a:xfrm>
            <a:off x="5304155" y="252730"/>
            <a:ext cx="6887210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8" name="矩形 37"/>
          <p:cNvSpPr/>
          <p:nvPr/>
        </p:nvSpPr>
        <p:spPr>
          <a:xfrm>
            <a:off x="5271135" y="310515"/>
            <a:ext cx="5064125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lang="en-US" altLang="zh-CN" sz="180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“AI 开发思维 → 产品形态的技术可行性判断”</a:t>
            </a:r>
            <a:endParaRPr lang="en-US" altLang="zh-CN" sz="1800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94423" y="1157605"/>
            <a:ext cx="5080000" cy="3733165"/>
          </a:xfrm>
          <a:prstGeom prst="rect">
            <a:avLst/>
          </a:prstGeom>
        </p:spPr>
        <p:txBody>
          <a:bodyPr>
            <a:spAutoFit/>
          </a:bodyPr>
          <a:p>
            <a:pPr algn="l">
              <a:lnSpc>
                <a:spcPct val="160000"/>
              </a:lnSpc>
              <a:buClrTx/>
              <a:buSzTx/>
              <a:buFontTx/>
              <a:defRPr sz="1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AI 开发特色能力 </a:t>
            </a:r>
            <a:endParaRPr altLang="zh-CN" sz="2000"/>
          </a:p>
          <a:p>
            <a:pPr>
              <a:lnSpc>
                <a:spcPct val="160000"/>
              </a:lnSpc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1. 驾驭 AI 工具：将 Claude Code、open code、Codex 等纳入日常工作流。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2. 极速代码框架生成：用 AI 在数十分钟内完成 MVP 原型搭建（如类抖音短视频平台）。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3. 错误分析与调试：能阅读 AI 输出、定位问题、给出修改指令，让 AI 去修复。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4. 工作留痕与文档：把 AI 协助生成的过程材料归档，形成可追溯的项目履历。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71578" y="1301433"/>
            <a:ext cx="5080000" cy="3548380"/>
          </a:xfrm>
          <a:prstGeom prst="rect">
            <a:avLst/>
          </a:prstGeom>
        </p:spPr>
        <p:txBody>
          <a:bodyPr>
            <a:spAutoFit/>
          </a:bodyPr>
          <a:p>
            <a:r>
              <a:rPr altLang="zh-CN" sz="2000" b="1">
                <a:solidFill>
                  <a:srgbClr val="157E9F"/>
                </a:solidFill>
                <a:latin typeface="方正清刻本悦宋简体"/>
              </a:rPr>
              <a:t>MCP（Model Context Protocol）</a:t>
            </a:r>
            <a:r>
              <a:rPr lang="zh-CN" sz="2000" b="1">
                <a:solidFill>
                  <a:srgbClr val="157E9F"/>
                </a:solidFill>
                <a:latin typeface="方正清刻本悦宋简体"/>
              </a:rPr>
              <a:t>特点</a:t>
            </a:r>
            <a:endParaRPr lang="zh-CN" altLang="en-US" sz="1600" b="1">
              <a:solidFill>
                <a:srgbClr val="157E9F"/>
              </a:solidFill>
              <a:latin typeface="方正清刻本悦宋简体"/>
            </a:endParaRPr>
          </a:p>
          <a:p>
            <a:pPr algn="l">
              <a:lnSpc>
                <a:spcPct val="160000"/>
              </a:lnSpc>
              <a:buClrTx/>
              <a:buSzTx/>
              <a:buFontTx/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1. 标准化协议：不同模型、不同工具按统一规范对接，避免重复定制function call。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  <a:buClrTx/>
              <a:buSzTx/>
              <a:buFontTx/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2. 工具发现：模型可发现并理解 MCP Server 暴露的接口、参数与报文结构。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  <a:buClrTx/>
              <a:buSzTx/>
              <a:buFontTx/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3. 跨平台安全：协议本身明确权限与边界，便于企业级数据安全与权限控制。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  <a:buClrTx/>
              <a:buSzTx/>
              <a:buFontTx/>
            </a:pPr>
            <a:r>
              <a:rPr altLang="zh-CN" sz="1600">
                <a:solidFill>
                  <a:srgbClr val="333333"/>
                </a:solidFill>
                <a:latin typeface="微软雅黑" panose="020B0503020204020204" charset="-122"/>
              </a:rPr>
              <a:t>4. 生态丰富：天气、数据库（SQLite/Redis 等）、联网、文档生成等场景都已有现成Server。</a:t>
            </a:r>
            <a:endParaRPr altLang="zh-CN" sz="16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84885"/>
            <a:ext cx="640080" cy="587311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11521440" y="137160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/>
              <a:t>10</a:t>
            </a:r>
            <a:endParaRPr altLang="zh-CN"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91440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914400" y="1828800"/>
            <a:ext cx="512064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097280" y="18288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 + 验证</a:t>
            </a:r>
            <a:endParaRPr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097280" y="24231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“汇报是用数据说明候的结论，不是用文字堆砌过程”</a:t>
            </a:r>
            <a:endParaRPr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996950" y="3017520"/>
            <a:ext cx="49657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>
                <a:ea typeface="微软雅黑" panose="020B0503020204020204" charset="-122"/>
                <a:cs typeface="微软雅黑" panose="020B0503020204020204" charset="-122"/>
              </a:rPr>
              <a:t>→ 结构化表达教我们如何说，结果验证教我们说什么</a:t>
            </a:r>
            <a:endParaRPr altLang="zh-CN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640080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6400800" y="1828800"/>
            <a:ext cx="512064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 + AI</a:t>
            </a:r>
            <a:endParaRPr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6583680" y="24231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“AI产品的能力边界，往往由数据质量决定”</a:t>
            </a:r>
            <a:endParaRPr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6583680" y="30175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>
                <a:ea typeface="微软雅黑" panose="020B0503020204020204" charset="-122"/>
                <a:cs typeface="微软雅黑" panose="020B0503020204020204" charset="-122"/>
              </a:rPr>
              <a:t>→ 数据挖掘提供原料，AI产品提供应用场景</a:t>
            </a:r>
            <a:endParaRPr altLang="zh-CN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91440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2"/>
            </p:custDataLst>
          </p:nvPr>
        </p:nvSpPr>
        <p:spPr>
          <a:xfrm>
            <a:off x="914400" y="4023360"/>
            <a:ext cx="512064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1097280" y="40233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 + 协同</a:t>
            </a:r>
            <a:endParaRPr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1097280" y="46177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“项目管理管‘事’，人机协同管‘人+机’”</a:t>
            </a:r>
            <a:endParaRPr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1097280" y="521208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>
                <a:ea typeface="微软雅黑" panose="020B0503020204020204" charset="-122"/>
                <a:cs typeface="微软雅黑" panose="020B0503020204020204" charset="-122"/>
              </a:rPr>
              <a:t>→ 两者叠加才能实现真正的效率提升</a:t>
            </a:r>
            <a:endParaRPr altLang="zh-CN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6"/>
            </p:custDataLst>
          </p:nvPr>
        </p:nvSpPr>
        <p:spPr>
          <a:xfrm>
            <a:off x="640080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7"/>
            </p:custDataLst>
          </p:nvPr>
        </p:nvSpPr>
        <p:spPr>
          <a:xfrm>
            <a:off x="6400800" y="4023360"/>
            <a:ext cx="512064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6583680" y="40233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心理 + 实践</a:t>
            </a:r>
            <a:endParaRPr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6583680" y="46177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“技术能力是表，心理能力是里”</a:t>
            </a:r>
            <a:endParaRPr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6583680" y="521208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ClrTx/>
              <a:buSzTx/>
              <a:buFontTx/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>
                <a:ea typeface="微软雅黑" panose="020B0503020204020204" charset="-122"/>
                <a:cs typeface="微软雅黑" panose="020B0503020204020204" charset="-122"/>
              </a:rPr>
              <a:t>→ 成长型思维+自我效能感=持续进步的内驱力</a:t>
            </a:r>
            <a:endParaRPr altLang="zh-CN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6" name="矩形 1765"/>
          <p:cNvSpPr/>
          <p:nvPr/>
        </p:nvSpPr>
        <p:spPr>
          <a:xfrm>
            <a:off x="3640455" y="252730"/>
            <a:ext cx="8550910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767" name="圆角矩形 176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768" name="矩形 1767"/>
          <p:cNvSpPr/>
          <p:nvPr/>
        </p:nvSpPr>
        <p:spPr>
          <a:xfrm>
            <a:off x="3773170" y="318770"/>
            <a:ext cx="4644390" cy="367030"/>
          </a:xfrm>
          <a:prstGeom prst="rect">
            <a:avLst/>
          </a:prstGeom>
        </p:spPr>
        <p:txBody>
          <a:bodyPr wrap="square" lIns="91431" tIns="45715" rIns="91431" bIns="45715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1800">
                <a:solidFill>
                  <a:schemeClr val="bg1"/>
                </a:solidFill>
                <a:sym typeface="+mn-ea"/>
              </a:rPr>
              <a:t>四组知识迁移——从孤立模块到系统思维</a:t>
            </a:r>
            <a:endParaRPr lang="en-US" altLang="zh-CN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69" name="圆角矩形 176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1" name="矩形 1770"/>
          <p:cNvSpPr/>
          <p:nvPr/>
        </p:nvSpPr>
        <p:spPr>
          <a:xfrm>
            <a:off x="716864" y="249663"/>
            <a:ext cx="268541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跨模块实践洞察</a:t>
            </a:r>
            <a:endParaRPr lang="en-US" altLang="zh-CN" sz="2800" dirty="0">
              <a:solidFill>
                <a:srgbClr val="157E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795"/>
            <a:ext cx="640080" cy="557720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/>
              <a:t>9</a:t>
            </a:r>
            <a:endParaRPr altLang="zh-CN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1600200" y="2011680"/>
            <a:ext cx="914400" cy="914400"/>
          </a:xfrm>
          <a:prstGeom prst="roundRect">
            <a:avLst/>
          </a:prstGeom>
          <a:solidFill>
            <a:srgbClr val="8BC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1600200" y="201168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焦虑期</a:t>
            </a:r>
            <a:endParaRPr altLang="zh-CN" sz="2000"/>
          </a:p>
        </p:txBody>
      </p:sp>
      <p:sp>
        <p:nvSpPr>
          <p:cNvPr id="10" name="Right Arrow 9"/>
          <p:cNvSpPr/>
          <p:nvPr>
            <p:custDataLst>
              <p:tags r:id="rId3"/>
            </p:custDataLst>
          </p:nvPr>
        </p:nvSpPr>
        <p:spPr>
          <a:xfrm>
            <a:off x="2743200" y="2359152"/>
            <a:ext cx="41148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463040" y="3108960"/>
            <a:ext cx="1188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“AI会不会</a:t>
            </a:r>
            <a:br>
              <a:rPr altLang="zh-CN" sz="1600"/>
            </a:br>
            <a:r>
              <a:rPr altLang="zh-CN" sz="1600"/>
              <a:t>替代我？”</a:t>
            </a:r>
            <a:endParaRPr altLang="zh-CN" sz="1600"/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3749040" y="2011680"/>
            <a:ext cx="914400" cy="914400"/>
          </a:xfrm>
          <a:prstGeom prst="roundRect">
            <a:avLst/>
          </a:prstGeom>
          <a:solidFill>
            <a:srgbClr val="5AA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3749040" y="201168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接触期</a:t>
            </a:r>
            <a:endParaRPr altLang="zh-CN" sz="2000"/>
          </a:p>
        </p:txBody>
      </p:sp>
      <p:sp>
        <p:nvSpPr>
          <p:cNvPr id="14" name="Right Arrow 13"/>
          <p:cNvSpPr/>
          <p:nvPr>
            <p:custDataLst>
              <p:tags r:id="rId7"/>
            </p:custDataLst>
          </p:nvPr>
        </p:nvSpPr>
        <p:spPr>
          <a:xfrm>
            <a:off x="4892040" y="2359152"/>
            <a:ext cx="41148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611880" y="3108960"/>
            <a:ext cx="1188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开始学习</a:t>
            </a:r>
            <a:br>
              <a:rPr altLang="zh-CN" sz="1600"/>
            </a:br>
            <a:r>
              <a:rPr altLang="zh-CN" sz="1600"/>
              <a:t>提示词工程</a:t>
            </a:r>
            <a:endParaRPr altLang="zh-CN" sz="1600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5897880" y="2011680"/>
            <a:ext cx="914400" cy="9144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5897880" y="201168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实践期</a:t>
            </a:r>
            <a:endParaRPr altLang="zh-CN" sz="2000"/>
          </a:p>
        </p:txBody>
      </p:sp>
      <p:sp>
        <p:nvSpPr>
          <p:cNvPr id="18" name="Right Arrow 17"/>
          <p:cNvSpPr/>
          <p:nvPr>
            <p:custDataLst>
              <p:tags r:id="rId11"/>
            </p:custDataLst>
          </p:nvPr>
        </p:nvSpPr>
        <p:spPr>
          <a:xfrm>
            <a:off x="7040880" y="2359152"/>
            <a:ext cx="41148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5760720" y="3108960"/>
            <a:ext cx="1188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在项目中</a:t>
            </a:r>
            <a:br>
              <a:rPr altLang="zh-CN" sz="1600"/>
            </a:br>
            <a:r>
              <a:rPr altLang="zh-CN" sz="1600"/>
              <a:t>实战应用</a:t>
            </a:r>
            <a:endParaRPr altLang="zh-CN" sz="1600"/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8046720" y="2011680"/>
            <a:ext cx="914400" cy="914400"/>
          </a:xfrm>
          <a:prstGeom prst="roundRect">
            <a:avLst/>
          </a:prstGeom>
          <a:solidFill>
            <a:srgbClr val="12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8046720" y="201168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反思期</a:t>
            </a:r>
            <a:endParaRPr altLang="zh-CN" sz="2000"/>
          </a:p>
        </p:txBody>
      </p:sp>
      <p:sp>
        <p:nvSpPr>
          <p:cNvPr id="22" name="Right Arrow 21"/>
          <p:cNvSpPr/>
          <p:nvPr>
            <p:custDataLst>
              <p:tags r:id="rId15"/>
            </p:custDataLst>
          </p:nvPr>
        </p:nvSpPr>
        <p:spPr>
          <a:xfrm>
            <a:off x="9189720" y="2359152"/>
            <a:ext cx="411480" cy="219456"/>
          </a:xfrm>
          <a:prstGeom prst="rightArrow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909560" y="3108960"/>
            <a:ext cx="1188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复盘得失</a:t>
            </a:r>
            <a:br>
              <a:rPr altLang="zh-CN" sz="1600"/>
            </a:br>
            <a:r>
              <a:rPr altLang="zh-CN" sz="1600"/>
              <a:t>总结方法论</a:t>
            </a:r>
            <a:endParaRPr altLang="zh-CN" sz="1600"/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10195560" y="2011680"/>
            <a:ext cx="914400" cy="914400"/>
          </a:xfrm>
          <a:prstGeom prst="roundRect">
            <a:avLst/>
          </a:prstGeom>
          <a:solidFill>
            <a:srgbClr val="0E5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10195560" y="201168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融合期</a:t>
            </a:r>
            <a:endParaRPr altLang="zh-CN" sz="2000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10058400" y="3108960"/>
            <a:ext cx="1188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人机协同</a:t>
            </a:r>
            <a:br>
              <a:rPr altLang="zh-CN" sz="1600"/>
            </a:br>
            <a:r>
              <a:rPr altLang="zh-CN" sz="1600"/>
              <a:t>成为常态</a:t>
            </a:r>
            <a:endParaRPr altLang="zh-CN" sz="1600"/>
          </a:p>
        </p:txBody>
      </p:sp>
      <p:sp>
        <p:nvSpPr>
          <p:cNvPr id="27" name="Rounded Rectangle 26"/>
          <p:cNvSpPr/>
          <p:nvPr/>
        </p:nvSpPr>
        <p:spPr>
          <a:xfrm>
            <a:off x="914400" y="4251960"/>
            <a:ext cx="10515600" cy="2374265"/>
          </a:xfrm>
          <a:prstGeom prst="roundRect">
            <a:avLst/>
          </a:prstGeom>
          <a:solidFill>
            <a:srgbClr val="F5F7FA"/>
          </a:solidFill>
          <a:ln>
            <a:solidFill>
              <a:srgbClr val="157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343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2000"/>
              <a:t>心理学理论支撑</a:t>
            </a:r>
            <a:endParaRPr altLang="zh-CN" sz="2000"/>
          </a:p>
        </p:txBody>
      </p:sp>
      <p:sp>
        <p:nvSpPr>
          <p:cNvPr id="29" name="TextBox 28"/>
          <p:cNvSpPr txBox="1"/>
          <p:nvPr/>
        </p:nvSpPr>
        <p:spPr>
          <a:xfrm>
            <a:off x="1188720" y="4754880"/>
            <a:ext cx="10058400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✔ 班杜拉(Bandura)自我效能感：个体对自己完成某项任务的信心。通过“成功经历”、“替代经验”、“语言说服”、“生理反馈”四条路径建立</a:t>
            </a:r>
            <a:endParaRPr sz="1600"/>
          </a:p>
          <a:p>
            <a:pPr algn="just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✔ 德韦克(Dweck)成长型思维：相信能力可通过努力发展，把“失败”重新定义为“还没有成功”而非“我不行”</a:t>
            </a:r>
            <a:endParaRPr sz="1600"/>
          </a:p>
          <a:p>
            <a:pPr algn="just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✔ Flavell元认知：对认知的认知——训练过程中，学会“停一下，想一想我是怎么想的”，这是本次训练营最大的内在收获</a:t>
            </a:r>
            <a:endParaRPr sz="1600"/>
          </a:p>
        </p:txBody>
      </p:sp>
      <p:sp>
        <p:nvSpPr>
          <p:cNvPr id="36" name="TextBox 6"/>
          <p:cNvSpPr txBox="1"/>
          <p:nvPr/>
        </p:nvSpPr>
        <p:spPr>
          <a:xfrm>
            <a:off x="643890" y="233680"/>
            <a:ext cx="5814060" cy="4857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成长心理：自我效能感五阶段</a:t>
            </a:r>
            <a:endParaRPr altLang="zh-CN"/>
          </a:p>
        </p:txBody>
      </p:sp>
      <p:sp>
        <p:nvSpPr>
          <p:cNvPr id="1766" name="矩形 1765"/>
          <p:cNvSpPr/>
          <p:nvPr/>
        </p:nvSpPr>
        <p:spPr>
          <a:xfrm>
            <a:off x="5750560" y="252730"/>
            <a:ext cx="6440805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" name="圆角矩形 3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6" name="矩形 1765"/>
          <p:cNvSpPr/>
          <p:nvPr/>
        </p:nvSpPr>
        <p:spPr>
          <a:xfrm>
            <a:off x="3771900" y="252730"/>
            <a:ext cx="8419465" cy="4845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57E9F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995045"/>
            <a:ext cx="640080" cy="586295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888740" y="332105"/>
            <a:ext cx="502031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1800">
                <a:solidFill>
                  <a:schemeClr val="bg1"/>
                </a:solidFill>
              </a:rPr>
              <a:t>四个可落地行动目标</a:t>
            </a:r>
            <a:endParaRPr altLang="zh-CN" sz="180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548640" cy="41148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1600"/>
              <a:t>指标</a:t>
            </a:r>
            <a:endParaRPr altLang="zh-CN" sz="1600"/>
          </a:p>
        </p:txBody>
      </p:sp>
      <p:sp>
        <p:nvSpPr>
          <p:cNvPr id="11" name="Rounded Rectangle 10"/>
          <p:cNvSpPr/>
          <p:nvPr/>
        </p:nvSpPr>
        <p:spPr>
          <a:xfrm>
            <a:off x="1463040" y="1828800"/>
            <a:ext cx="1371600" cy="41148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12623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关键词</a:t>
            </a:r>
            <a:endParaRPr altLang="zh-CN" sz="2000"/>
          </a:p>
        </p:txBody>
      </p:sp>
      <p:sp>
        <p:nvSpPr>
          <p:cNvPr id="13" name="Rounded Rectangle 12"/>
          <p:cNvSpPr/>
          <p:nvPr/>
        </p:nvSpPr>
        <p:spPr>
          <a:xfrm>
            <a:off x="2834640" y="1828800"/>
            <a:ext cx="4572000" cy="41148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82880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目标描述</a:t>
            </a:r>
            <a:endParaRPr altLang="zh-CN" sz="2000"/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4023360" cy="41148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82880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行动措施</a:t>
            </a:r>
            <a:endParaRPr altLang="zh-CN" sz="2000"/>
          </a:p>
        </p:txBody>
      </p:sp>
      <p:sp>
        <p:nvSpPr>
          <p:cNvPr id="17" name="Rounded Rectangle 16"/>
          <p:cNvSpPr/>
          <p:nvPr/>
        </p:nvSpPr>
        <p:spPr>
          <a:xfrm>
            <a:off x="914400" y="23317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2459736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459736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S</a:t>
            </a:r>
            <a:endParaRPr altLang="zh-CN"/>
          </a:p>
        </p:txBody>
      </p:sp>
      <p:sp>
        <p:nvSpPr>
          <p:cNvPr id="20" name="TextBox 19"/>
          <p:cNvSpPr txBox="1"/>
          <p:nvPr/>
        </p:nvSpPr>
        <p:spPr>
          <a:xfrm>
            <a:off x="1554480" y="237744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600"/>
              <a:t>具体目标</a:t>
            </a:r>
            <a:endParaRPr altLang="zh-CN" sz="1600"/>
          </a:p>
        </p:txBody>
      </p:sp>
      <p:sp>
        <p:nvSpPr>
          <p:cNvPr id="21" name="TextBox 20"/>
          <p:cNvSpPr txBox="1"/>
          <p:nvPr/>
        </p:nvSpPr>
        <p:spPr>
          <a:xfrm>
            <a:off x="2926080" y="2350008"/>
            <a:ext cx="4389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建立个人知识库，整理训练营所学方法论与框架</a:t>
            </a:r>
            <a:endParaRPr altLang="zh-CN" sz="1600"/>
          </a:p>
        </p:txBody>
      </p:sp>
      <p:sp>
        <p:nvSpPr>
          <p:cNvPr id="22" name="TextBox 21"/>
          <p:cNvSpPr txBox="1"/>
          <p:nvPr/>
        </p:nvSpPr>
        <p:spPr>
          <a:xfrm>
            <a:off x="7498080" y="2350008"/>
            <a:ext cx="3840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每日写工作日志，每周一篇复盘文章，持续3个月</a:t>
            </a:r>
            <a:endParaRPr altLang="zh-CN" sz="1600"/>
          </a:p>
        </p:txBody>
      </p:sp>
      <p:sp>
        <p:nvSpPr>
          <p:cNvPr id="23" name="Rounded Rectangle 22"/>
          <p:cNvSpPr/>
          <p:nvPr/>
        </p:nvSpPr>
        <p:spPr>
          <a:xfrm>
            <a:off x="914400" y="3136392"/>
            <a:ext cx="1051560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264408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26440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M</a:t>
            </a:r>
            <a:endParaRPr altLang="zh-CN"/>
          </a:p>
        </p:txBody>
      </p:sp>
      <p:sp>
        <p:nvSpPr>
          <p:cNvPr id="26" name="TextBox 25"/>
          <p:cNvSpPr txBox="1"/>
          <p:nvPr/>
        </p:nvSpPr>
        <p:spPr>
          <a:xfrm>
            <a:off x="1554480" y="3182112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600"/>
              <a:t>可度量</a:t>
            </a:r>
            <a:endParaRPr altLang="zh-CN" sz="1600"/>
          </a:p>
        </p:txBody>
      </p:sp>
      <p:sp>
        <p:nvSpPr>
          <p:cNvPr id="27" name="TextBox 26"/>
          <p:cNvSpPr txBox="1"/>
          <p:nvPr/>
        </p:nvSpPr>
        <p:spPr>
          <a:xfrm>
            <a:off x="2926080" y="3154680"/>
            <a:ext cx="4389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在日常工作中应用结构化表达，提升汇报质量</a:t>
            </a:r>
            <a:endParaRPr altLang="zh-CN" sz="1600"/>
          </a:p>
        </p:txBody>
      </p:sp>
      <p:sp>
        <p:nvSpPr>
          <p:cNvPr id="28" name="TextBox 27"/>
          <p:cNvSpPr txBox="1"/>
          <p:nvPr/>
        </p:nvSpPr>
        <p:spPr>
          <a:xfrm>
            <a:off x="7498080" y="3154680"/>
            <a:ext cx="3840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每次汇报前使用SCQA框架，争取“一次过”率50%→85%</a:t>
            </a:r>
            <a:endParaRPr altLang="zh-CN" sz="1600"/>
          </a:p>
        </p:txBody>
      </p:sp>
      <p:sp>
        <p:nvSpPr>
          <p:cNvPr id="29" name="Rounded Rectangle 28"/>
          <p:cNvSpPr/>
          <p:nvPr/>
        </p:nvSpPr>
        <p:spPr>
          <a:xfrm>
            <a:off x="914400" y="3941064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4069080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A</a:t>
            </a:r>
            <a:endParaRPr altLang="zh-CN"/>
          </a:p>
        </p:txBody>
      </p:sp>
      <p:sp>
        <p:nvSpPr>
          <p:cNvPr id="32" name="TextBox 31"/>
          <p:cNvSpPr txBox="1"/>
          <p:nvPr/>
        </p:nvSpPr>
        <p:spPr>
          <a:xfrm>
            <a:off x="1554480" y="3986784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600"/>
              <a:t>可达成</a:t>
            </a:r>
            <a:endParaRPr altLang="zh-CN" sz="1600"/>
          </a:p>
        </p:txBody>
      </p:sp>
      <p:sp>
        <p:nvSpPr>
          <p:cNvPr id="33" name="TextBox 32"/>
          <p:cNvSpPr txBox="1"/>
          <p:nvPr/>
        </p:nvSpPr>
        <p:spPr>
          <a:xfrm>
            <a:off x="2926080" y="3959352"/>
            <a:ext cx="4389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将AI工具融入日常工作流，提升个人效率</a:t>
            </a:r>
            <a:endParaRPr altLang="zh-CN" sz="1600"/>
          </a:p>
        </p:txBody>
      </p:sp>
      <p:sp>
        <p:nvSpPr>
          <p:cNvPr id="34" name="TextBox 33"/>
          <p:cNvSpPr txBox="1"/>
          <p:nvPr/>
        </p:nvSpPr>
        <p:spPr>
          <a:xfrm>
            <a:off x="7498080" y="3959352"/>
            <a:ext cx="3840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每天至少用AI完成1个任务，建立提示词模板库</a:t>
            </a:r>
            <a:endParaRPr altLang="zh-CN" sz="1600"/>
          </a:p>
        </p:txBody>
      </p:sp>
      <p:sp>
        <p:nvSpPr>
          <p:cNvPr id="35" name="Rounded Rectangle 34"/>
          <p:cNvSpPr/>
          <p:nvPr/>
        </p:nvSpPr>
        <p:spPr>
          <a:xfrm>
            <a:off x="914400" y="4745736"/>
            <a:ext cx="10515600" cy="713232"/>
          </a:xfrm>
          <a:prstGeom prst="roundRect">
            <a:avLst/>
          </a:prstGeom>
          <a:solidFill>
            <a:srgbClr val="F5F7FA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" y="4873752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87375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R</a:t>
            </a:r>
            <a:endParaRPr altLang="zh-CN"/>
          </a:p>
        </p:txBody>
      </p:sp>
      <p:sp>
        <p:nvSpPr>
          <p:cNvPr id="38" name="TextBox 37"/>
          <p:cNvSpPr txBox="1"/>
          <p:nvPr/>
        </p:nvSpPr>
        <p:spPr>
          <a:xfrm>
            <a:off x="1554480" y="4791456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600"/>
              <a:t>相关性</a:t>
            </a:r>
            <a:endParaRPr altLang="zh-CN" sz="1600"/>
          </a:p>
        </p:txBody>
      </p:sp>
      <p:sp>
        <p:nvSpPr>
          <p:cNvPr id="39" name="TextBox 38"/>
          <p:cNvSpPr txBox="1"/>
          <p:nvPr/>
        </p:nvSpPr>
        <p:spPr>
          <a:xfrm>
            <a:off x="2926080" y="4764024"/>
            <a:ext cx="4389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培养“AI产品经理”思维，用五透镜分析需求</a:t>
            </a:r>
            <a:endParaRPr altLang="zh-CN" sz="1600"/>
          </a:p>
        </p:txBody>
      </p:sp>
      <p:sp>
        <p:nvSpPr>
          <p:cNvPr id="40" name="TextBox 39"/>
          <p:cNvSpPr txBox="1"/>
          <p:nvPr/>
        </p:nvSpPr>
        <p:spPr>
          <a:xfrm>
            <a:off x="7498080" y="4764024"/>
            <a:ext cx="3840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每月用五透镜分析一个工作中的功能需求</a:t>
            </a:r>
            <a:endParaRPr altLang="zh-CN" sz="1600"/>
          </a:p>
        </p:txBody>
      </p:sp>
      <p:sp>
        <p:nvSpPr>
          <p:cNvPr id="41" name="Rounded Rectangle 40"/>
          <p:cNvSpPr/>
          <p:nvPr/>
        </p:nvSpPr>
        <p:spPr>
          <a:xfrm>
            <a:off x="914400" y="5550408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0120" y="5678424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67842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T</a:t>
            </a:r>
            <a:endParaRPr altLang="zh-CN"/>
          </a:p>
        </p:txBody>
      </p:sp>
      <p:sp>
        <p:nvSpPr>
          <p:cNvPr id="44" name="TextBox 43"/>
          <p:cNvSpPr txBox="1"/>
          <p:nvPr/>
        </p:nvSpPr>
        <p:spPr>
          <a:xfrm>
            <a:off x="1554480" y="5596128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 sz="1600"/>
              <a:t>时限性</a:t>
            </a:r>
            <a:endParaRPr altLang="zh-CN" sz="1600"/>
          </a:p>
        </p:txBody>
      </p:sp>
      <p:sp>
        <p:nvSpPr>
          <p:cNvPr id="45" name="TextBox 44"/>
          <p:cNvSpPr txBox="1"/>
          <p:nvPr/>
        </p:nvSpPr>
        <p:spPr>
          <a:xfrm>
            <a:off x="2926080" y="5568696"/>
            <a:ext cx="4389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制定3个月学习计划，定期检查进度</a:t>
            </a:r>
            <a:endParaRPr altLang="zh-CN" sz="1600"/>
          </a:p>
        </p:txBody>
      </p:sp>
      <p:sp>
        <p:nvSpPr>
          <p:cNvPr id="46" name="TextBox 45"/>
          <p:cNvSpPr txBox="1"/>
          <p:nvPr/>
        </p:nvSpPr>
        <p:spPr>
          <a:xfrm>
            <a:off x="7498080" y="5568696"/>
            <a:ext cx="3840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 sz="1600"/>
              <a:t>每月底自我检查，3个月后输出成长报告</a:t>
            </a:r>
            <a:endParaRPr altLang="zh-CN" sz="1600"/>
          </a:p>
        </p:txBody>
      </p:sp>
      <p:sp>
        <p:nvSpPr>
          <p:cNvPr id="47" name="TextBox 6"/>
          <p:cNvSpPr txBox="1"/>
          <p:nvPr/>
        </p:nvSpPr>
        <p:spPr>
          <a:xfrm>
            <a:off x="643890" y="233680"/>
            <a:ext cx="3128645" cy="4857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>
                <a:sym typeface="+mn-ea"/>
              </a:rPr>
              <a:t>SMART 改进计划</a:t>
            </a:r>
            <a:endParaRPr altLang="zh-CN"/>
          </a:p>
        </p:txBody>
      </p:sp>
      <p:sp>
        <p:nvSpPr>
          <p:cNvPr id="48" name="圆角矩形 47"/>
          <p:cNvSpPr/>
          <p:nvPr/>
        </p:nvSpPr>
        <p:spPr>
          <a:xfrm rot="10800000" flipV="1">
            <a:off x="-5664" y="249607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49" name="圆角矩形 48"/>
          <p:cNvSpPr/>
          <p:nvPr/>
        </p:nvSpPr>
        <p:spPr>
          <a:xfrm rot="16200000" flipV="1">
            <a:off x="11250548" y="252785"/>
            <a:ext cx="484262" cy="491089"/>
          </a:xfrm>
          <a:prstGeom prst="roundRect">
            <a:avLst>
              <a:gd name="adj" fmla="val 5039"/>
            </a:avLst>
          </a:prstGeom>
          <a:solidFill>
            <a:srgbClr val="157E9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Freeform 96"/>
          <p:cNvSpPr/>
          <p:nvPr/>
        </p:nvSpPr>
        <p:spPr bwMode="auto">
          <a:xfrm>
            <a:off x="11351756" y="359819"/>
            <a:ext cx="280575" cy="270673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"/>
            <a:ext cx="640080" cy="6857365"/>
          </a:xfrm>
          <a:prstGeom prst="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2286000"/>
            <a:ext cx="5486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方正清刻本悦宋简体"/>
              </a:defRPr>
            </a:pPr>
            <a:r>
              <a:rPr sz="2000"/>
              <a:t>思特奇登顶计划</a:t>
            </a:r>
            <a:endParaRPr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685800"/>
            <a:ext cx="1828800" cy="0"/>
          </a:xfrm>
          <a:prstGeom prst="line">
            <a:avLst/>
          </a:prstGeom>
          <a:ln w="31750">
            <a:solidFill>
              <a:srgbClr val="157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结语：从“会用”到“负责”</a:t>
            </a:r>
            <a:endParaRPr altLang="zh-CN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 sz="1400"/>
              <a:t>让AI成为我们的“扩展能力”而非“替代者”</a:t>
            </a:r>
            <a:endParaRPr altLang="zh-CN" sz="1400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每天问自己五个问题：</a:t>
            </a:r>
            <a:endParaRPr altLang="zh-CN"/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914400" y="2468880"/>
            <a:ext cx="365760" cy="3657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1</a:t>
            </a:r>
            <a:endParaRPr altLang="zh-CN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463040" y="24688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/>
              <a:t>我今天的输出，是“作业”还是“价值”？</a:t>
            </a:r>
            <a:endParaRPr altLang="zh-CN"/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914400" y="3063240"/>
            <a:ext cx="365760" cy="3657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914400" y="3063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2</a:t>
            </a:r>
            <a:endParaRPr altLang="zh-CN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463040" y="30632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/>
              <a:t>这个结论有数据支撑吗？反例是什么？</a:t>
            </a:r>
            <a:endParaRPr altLang="zh-CN"/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914400" y="3657600"/>
            <a:ext cx="365760" cy="3657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914400" y="3657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3</a:t>
            </a:r>
            <a:endParaRPr altLang="zh-CN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1463040" y="365760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/>
              <a:t>我是在“做对的事”吗？用户真正需要什么？</a:t>
            </a:r>
            <a:endParaRPr altLang="zh-CN"/>
          </a:p>
        </p:txBody>
      </p:sp>
      <p:sp>
        <p:nvSpPr>
          <p:cNvPr id="19" name="Rounded Rectangle 18"/>
          <p:cNvSpPr/>
          <p:nvPr>
            <p:custDataLst>
              <p:tags r:id="rId10"/>
            </p:custDataLst>
          </p:nvPr>
        </p:nvSpPr>
        <p:spPr>
          <a:xfrm>
            <a:off x="914400" y="4251960"/>
            <a:ext cx="365760" cy="3657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914400" y="42519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4</a:t>
            </a:r>
            <a:endParaRPr altLang="zh-CN"/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/>
              <a:t>AI做了什么？我负责了什么？谁是责任主体？</a:t>
            </a:r>
            <a:endParaRPr altLang="zh-CN"/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914400" y="4846320"/>
            <a:ext cx="365760" cy="3657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914400" y="4846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 altLang="zh-CN"/>
              <a:t>5</a:t>
            </a:r>
            <a:endParaRPr altLang="zh-CN"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1463040" y="48463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altLang="zh-CN"/>
              <a:t>今天学到的，能迁移到明天吗？我是否在进步？</a:t>
            </a:r>
            <a:endParaRPr altLang="zh-CN"/>
          </a:p>
        </p:txBody>
      </p:sp>
      <p:sp>
        <p:nvSpPr>
          <p:cNvPr id="25" name="Rounded Rectangle 24"/>
          <p:cNvSpPr/>
          <p:nvPr/>
        </p:nvSpPr>
        <p:spPr>
          <a:xfrm>
            <a:off x="1828800" y="5486400"/>
            <a:ext cx="8229600" cy="82296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55778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方正清刻本悦宋简体"/>
              </a:defRPr>
            </a:pPr>
            <a:r>
              <a:rPr altLang="zh-CN" sz="2000"/>
              <a:t>价值闭环：学习→实践→反思→再实践→再反思→持续进步</a:t>
            </a:r>
            <a:endParaRPr altLang="zh-CN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0" y="2011680"/>
            <a:ext cx="3931920" cy="0"/>
          </a:xfrm>
          <a:prstGeom prst="line">
            <a:avLst/>
          </a:prstGeom>
          <a:ln w="19050">
            <a:solidFill>
              <a:srgbClr val="157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0" y="3429000"/>
            <a:ext cx="3931920" cy="0"/>
          </a:xfrm>
          <a:prstGeom prst="line">
            <a:avLst/>
          </a:prstGeom>
          <a:ln w="19050">
            <a:solidFill>
              <a:srgbClr val="157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0" y="2069465"/>
            <a:ext cx="6675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57E9F"/>
                </a:solidFill>
                <a:latin typeface="方正清刻本悦宋简体"/>
              </a:defRPr>
            </a:pPr>
            <a:r>
              <a:rPr altLang="zh-CN"/>
              <a:t>感谢思特奇</a:t>
            </a:r>
            <a:br>
              <a:rPr altLang="zh-CN"/>
            </a:br>
            <a:r>
              <a:rPr altLang="zh-CN"/>
              <a:t>感谢登顶计划</a:t>
            </a:r>
            <a:endParaRPr altLang="zh-CN"/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88888"/>
                </a:solidFill>
                <a:latin typeface="方正清刻本悦宋简体"/>
              </a:defRPr>
            </a:pPr>
            <a:r>
              <a:rPr altLang="zh-CN"/>
              <a:t>从“会用AI”到“对价值负责”，这只是开始</a:t>
            </a:r>
            <a:endParaRPr altLang="zh-CN"/>
          </a:p>
        </p:txBody>
      </p:sp>
      <p:sp>
        <p:nvSpPr>
          <p:cNvPr id="6" name="TextBox 5"/>
          <p:cNvSpPr txBox="1"/>
          <p:nvPr/>
        </p:nvSpPr>
        <p:spPr>
          <a:xfrm>
            <a:off x="2743200" y="429768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Arial" panose="020B0604020202020204"/>
              </a:defRPr>
            </a:pPr>
            <a:r>
              <a:rPr altLang="zh-CN"/>
              <a:t>This is not the end. It is the beginning of a new way of thinking.</a:t>
            </a:r>
            <a:endParaRPr altLang="zh-CN"/>
          </a:p>
        </p:txBody>
      </p:sp>
      <p:sp>
        <p:nvSpPr>
          <p:cNvPr id="7" name="TextBox 6"/>
          <p:cNvSpPr txBox="1"/>
          <p:nvPr/>
        </p:nvSpPr>
        <p:spPr>
          <a:xfrm>
            <a:off x="2743200" y="5120640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 altLang="zh-CN"/>
              <a:t>思特奇  |   2026登顶计划   |   2026.08</a:t>
            </a:r>
            <a:endParaRPr altLang="zh-CN"/>
          </a:p>
        </p:txBody>
      </p:sp>
      <p:sp>
        <p:nvSpPr>
          <p:cNvPr id="8" name="Rounded Rectangle 7"/>
          <p:cNvSpPr/>
          <p:nvPr/>
        </p:nvSpPr>
        <p:spPr>
          <a:xfrm>
            <a:off x="11521440" y="137160"/>
            <a:ext cx="457200" cy="457200"/>
          </a:xfrm>
          <a:prstGeom prst="roundRect">
            <a:avLst/>
          </a:prstGeom>
          <a:solidFill>
            <a:srgbClr val="157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8" descr="slide1_图片 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2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3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4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5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6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7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8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9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10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11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12.xml><?xml version="1.0" encoding="utf-8"?>
<p:tagLst xmlns:p="http://schemas.openxmlformats.org/presentationml/2006/main">
  <p:tag name="KSO_WM_DIAGRAM_VIRTUALLY_FRAME" val="{&quot;height&quot;:337.8133150836614,&quot;left&quot;:305.5612711040027,&quot;top&quot;:110.56337504511154,&quot;width&quot;:589.3725223753285}"/>
</p:tagLst>
</file>

<file path=ppt/tags/tag13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4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5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6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7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8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19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0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1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2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3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4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5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6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7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8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29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0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1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2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3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4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5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6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7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8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39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0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1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2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3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4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5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6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7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8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49.xml><?xml version="1.0" encoding="utf-8"?>
<p:tagLst xmlns:p="http://schemas.openxmlformats.org/presentationml/2006/main">
  <p:tag name="KSO_WM_DIAGRAM_VIRTUALLY_FRAME" val="{&quot;height&quot;:344.9389046260937,&quot;left&quot;:86.35,&quot;top&quot;:128.21109537390632,&quot;width&quot;:803.3728704519357}"/>
</p:tagLst>
</file>

<file path=ppt/tags/tag50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1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2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3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4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5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6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7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8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59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0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1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2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3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4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5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6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7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8.xml><?xml version="1.0" encoding="utf-8"?>
<p:tagLst xmlns:p="http://schemas.openxmlformats.org/presentationml/2006/main">
  <p:tag name="KSO_WM_DIAGRAM_VIRTUALLY_FRAME" val="{&quot;height&quot;:158.4,&quot;left&quot;:72,&quot;top&quot;:158.4,&quot;width&quot;:860.4}"/>
</p:tagLst>
</file>

<file path=ppt/tags/tag69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0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1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2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3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4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5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6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7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8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79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0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1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2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3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4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5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6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7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8.xml><?xml version="1.0" encoding="utf-8"?>
<p:tagLst xmlns:p="http://schemas.openxmlformats.org/presentationml/2006/main">
  <p:tag name="KSO_WM_DIAGRAM_VIRTUALLY_FRAME" val="{&quot;height&quot;:225.8,&quot;left&quot;:71.45,&quot;top&quot;:100.25,&quot;width&quot;:842.4}"/>
</p:tagLst>
</file>

<file path=ppt/tags/tag89.xml><?xml version="1.0" encoding="utf-8"?>
<p:tagLst xmlns:p="http://schemas.openxmlformats.org/presentationml/2006/main">
  <p:tag name="KSO_WM_DIAGRAM_VIRTUALLY_FRAME" val="{&quot;height&quot;:300.17,&quot;left&quot;:70.25,&quot;top&quot;:113.60999999999999,&quot;width&quot;:864}"/>
</p:tagLst>
</file>

<file path=ppt/tags/tag90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1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2.xml><?xml version="1.0" encoding="utf-8"?>
<p:tagLst xmlns:p="http://schemas.openxmlformats.org/presentationml/2006/main">
  <p:tag name="KSO_WM_DIAGRAM_VIRTUALLY_FRAME" val="{&quot;height&quot;:300.17,&quot;left&quot;:70.25,&quot;top&quot;:113.60999999999999,&quot;width&quot;:864}"/>
</p:tagLst>
</file>

<file path=ppt/tags/tag93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4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5.xml><?xml version="1.0" encoding="utf-8"?>
<p:tagLst xmlns:p="http://schemas.openxmlformats.org/presentationml/2006/main">
  <p:tag name="KSO_WM_DIAGRAM_VIRTUALLY_FRAME" val="{&quot;height&quot;:300.17,&quot;left&quot;:70.25,&quot;top&quot;:113.60999999999999,&quot;width&quot;:864}"/>
</p:tagLst>
</file>

<file path=ppt/tags/tag96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7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98.xml><?xml version="1.0" encoding="utf-8"?>
<p:tagLst xmlns:p="http://schemas.openxmlformats.org/presentationml/2006/main">
  <p:tag name="KSO_WM_DIAGRAM_VIRTUALLY_FRAME" val="{&quot;height&quot;:300.17,&quot;left&quot;:70.25,&quot;top&quot;:113.60999999999999,&quot;width&quot;:864}"/>
</p:tagLst>
</file>

<file path=ppt/tags/tag99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0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1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2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3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4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5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6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7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8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09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10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11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12.xml><?xml version="1.0" encoding="utf-8"?>
<p:tagLst xmlns:p="http://schemas.openxmlformats.org/presentationml/2006/main">
  <p:tag name="KSO_WM_DIAGRAM_VIRTUALLY_FRAME" val="{&quot;height&quot;:300.64,&quot;left&quot;:70.25,&quot;top&quot;:113.60999999999999,&quot;width&quot;:864}"/>
</p:tagLst>
</file>

<file path=ppt/tags/tag113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4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5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6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7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8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19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0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1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2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3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4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5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6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7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8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29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30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31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32.xml><?xml version="1.0" encoding="utf-8"?>
<p:tagLst xmlns:p="http://schemas.openxmlformats.org/presentationml/2006/main">
  <p:tag name="KSO_WM_DIAGRAM_VIRTUALLY_FRAME" val="{&quot;height&quot;:324,&quot;left&quot;:72,&quot;top&quot;:144,&quot;width&quot;:835.2}"/>
</p:tagLst>
</file>

<file path=ppt/tags/tag133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4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5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6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7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8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39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0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1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2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3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4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5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6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7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8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49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50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51.xml><?xml version="1.0" encoding="utf-8"?>
<p:tagLst xmlns:p="http://schemas.openxmlformats.org/presentationml/2006/main">
  <p:tag name="KSO_WM_DIAGRAM_VIRTUALLY_FRAME" val="{&quot;height&quot;:158.4,&quot;left&quot;:115.2,&quot;top&quot;:158.4,&quot;width&quot;:770.4}"/>
</p:tagLst>
</file>

<file path=ppt/tags/tag152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3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4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5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6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7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8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59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0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1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2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3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4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5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ags/tag166.xml><?xml version="1.0" encoding="utf-8"?>
<p:tagLst xmlns:p="http://schemas.openxmlformats.org/presentationml/2006/main">
  <p:tag name="KSO_WM_DIAGRAM_VIRTUALLY_FRAME" val="{&quot;height&quot;:216,&quot;left&quot;:72,&quot;top&quot;:194.4,&quot;width&quot;:79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3191</Words>
  <Application>WPS 演示</Application>
  <PresentationFormat>On-screen Show (4:3)</PresentationFormat>
  <Paragraphs>426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方正清刻本悦宋简体</vt:lpstr>
      <vt:lpstr>微软雅黑</vt:lpstr>
      <vt:lpstr>Calibri</vt:lpstr>
      <vt:lpstr>Arial Unicode MS</vt:lpstr>
      <vt:lpstr>方正清刻本悦宋简体</vt:lpstr>
      <vt:lpstr>Times New Roman</vt:lpstr>
      <vt:lpstr>Calibri Light</vt:lpstr>
      <vt:lpstr>Office 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李昔伦</cp:lastModifiedBy>
  <cp:revision>4</cp:revision>
  <dcterms:created xsi:type="dcterms:W3CDTF">2013-01-27T09:14:00Z</dcterms:created>
  <dcterms:modified xsi:type="dcterms:W3CDTF">2026-08-05T07:39:27Z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FF95CDE7FD0D491D9A7B1DECA67FB66E_13</vt:lpwstr>
  </property>
  <property fmtid="{D5CDD505-2E9C-101B-9397-08002B2CF9AE}" pid="3" name="KSOProductBuildVer">
    <vt:lpwstr>2052-12.1.0.23542</vt:lpwstr>
  </property>
</Properties>
</file>